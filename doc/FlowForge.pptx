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grams of rPET</c:v>
                </c:pt>
              </c:strCache>
            </c:strRef>
          </c:tx>
          <c:spPr>
            <a:solidFill>
              <a:srgbClr val="3D90D7"/>
            </a:solidFill>
            <a:effectLst/>
          </c:spPr>
          <c:invertIfNegative val="0"/>
          <c:dLbls>
            <c:numFmt formatCode="#,##0" sourceLinked="0"/>
            <c:txPr>
              <a:bodyPr/>
              <a:lstStyle/>
              <a:p>
                <a:pPr>
                  <a:defRPr b="0" i="0" strike="noStrike" sz="1100" u="none">
                    <a:solidFill>
                      <a:srgbClr val="0F2A3F"/>
                    </a:solidFill>
                    <a:latin typeface="Poppins"/>
                  </a:defRPr>
                </a:pPr>
              </a:p>
            </c:txPr>
            <c:showLegendKey val="0"/>
            <c:showVal val="1"/>
            <c:showCatName val="0"/>
            <c:showSerName val="0"/>
            <c:showPercent val="0"/>
            <c:showBubbleSize val="0"/>
            <c:showLeaderLines val="0"/>
          </c:dLbls>
          <c:cat>
            <c:multiLvlStrRef>
              <c:f>Sheet1!$A$2:$A$8</c:f>
              <c:multiLvlStrCache>
                <c:ptCount val="7"/>
                <c:lvl>
                  <c:pt idx="0">
                    <c:v>Top frame</c:v>
                  </c:pt>
                  <c:pt idx="1">
                    <c:v>Bottom frame</c:v>
                  </c:pt>
                  <c:pt idx="2">
                    <c:v>Top body</c:v>
                  </c:pt>
                  <c:pt idx="3">
                    <c:v>Knob</c:v>
                  </c:pt>
                  <c:pt idx="4">
                    <c:v>Badge</c:v>
                  </c:pt>
                  <c:pt idx="5">
                    <c:v>Support</c:v>
                  </c:pt>
                  <c:pt idx="6">
                    <c:v>Screen trim</c:v>
                  </c:pt>
                </c:lvl>
              </c:multiLvlStrCache>
            </c:multiLvlStrRef>
          </c:cat>
          <c:val>
            <c:numRef>
              <c:f>Sheet1!$B$2:$B$8</c:f>
              <c:numCache>
                <c:formatCode>General</c:formatCode>
                <c:ptCount val="7"/>
                <c:pt idx="0">
                  <c:v>41.71</c:v>
                </c:pt>
                <c:pt idx="1">
                  <c:v>27.54</c:v>
                </c:pt>
                <c:pt idx="2">
                  <c:v>1.37</c:v>
                </c:pt>
                <c:pt idx="3">
                  <c:v>1.23</c:v>
                </c:pt>
                <c:pt idx="4">
                  <c:v>0.9</c:v>
                </c:pt>
                <c:pt idx="5">
                  <c:v>0.79</c:v>
                </c:pt>
                <c:pt idx="6">
                  <c:v>0.43</c:v>
                </c:pt>
              </c:numCache>
            </c:numRef>
          </c:val>
        </c:ser>
        <c:dLbls>
          <c:numFmt formatCode="#,##0" sourceLinked="0"/>
          <c:txPr>
            <a:bodyPr/>
            <a:lstStyle/>
            <a:p>
              <a:pPr>
                <a:defRPr b="0" i="0" strike="noStrike" sz="1100" u="none">
                  <a:solidFill>
                    <a:srgbClr val="0F2A3F"/>
                  </a:solidFill>
                  <a:latin typeface="Poppin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8299"/>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7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8299"/>
                </a:solidFill>
                <a:latin typeface="Poppin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holding the pen up before saying anything.,One line: the machine is waste, the plastic is waste, the body is printed from the same plastic.,Say where you are building it: Yaounde,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single failure that kills a printer: warped bed, fried board, seized lead screw.,The expensive parts survive the machine.,PET bottles are chemically close to the PETG makers pay import prices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It is the setup, not the argument.,Expect: 'why not just buy a pen?' Answer: you can, once, and then you own a sealed object.,Do not quote a filament price here, the local figure is still being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talk hangs on. Slow down.,Three axes recovered at once: machine, feedstock, enclosure.,As far as we can establish, no other open pen closes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fasteners, wiring and the bench supply are new.,The 74 g is the seven printed parts, 73.97 g measured in the slicer.,Expect: 'is this reproducible without a donor printer?' Yes, the BOM lists a new equivalent for every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tether is a trade we made on purpose, not a compromise we are hiding.,It also keeps stepper heat and vibration away from the grip.,Expect: 'why such a big board?' Because it is the donor printer's own board. Zero new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ribs are cooling surface, not styling.,Heat break is 11.9 mm across and 5.7 mm long, the critical dimension in the whole design.,rPET would soften long before the hot end reaches working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the frames first, the small parts are quick reprints if you revise.,Material cost is at roughly 100 XAF per gram of recycled filament.,STL files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code in the project. Say so.,A disconnected thermistor reads at the rail. That is the classic path to a fire, and the sanity band catches it.,Any fault kills the heater, disables the extruder, runs the fan flat out and latches until power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to look good. It is the part makers trust.,Glue residue from labels chars in the melt zone and is a common clog.,Failure-mode table is in the documentation, section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diameter sensor is the single change that would most improve rPET reliability.,V2 cuts the tether down to filament only.,A desktop app for per-batch temperature profiles is also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one thing: a build attempt and a report back.,Point at the repository and the documentation.,If someone has a dead printer, that is the conversation to have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oot/.claude/skills/synced/presentation/assets/bg/cover.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root/.claude/skills/synced/presentation/assets/logos/brandmark-white.png">    </p:cNvPr>
          <p:cNvPicPr>
            <a:picLocks noChangeAspect="1"/>
          </p:cNvPicPr>
          <p:nvPr/>
        </p:nvPicPr>
        <p:blipFill>
          <a:blip r:embed="rId2"/>
          <a:stretch>
            <a:fillRect/>
          </a:stretch>
        </p:blipFill>
        <p:spPr>
          <a:xfrm>
            <a:off x="777240" y="548640"/>
            <a:ext cx="402336" cy="402336"/>
          </a:xfrm>
          <a:prstGeom prst="rect">
            <a:avLst/>
          </a:prstGeom>
        </p:spPr>
      </p:pic>
      <p:sp>
        <p:nvSpPr>
          <p:cNvPr id="4" name="Text 0"/>
          <p:cNvSpPr/>
          <p:nvPr/>
        </p:nvSpPr>
        <p:spPr>
          <a:xfrm>
            <a:off x="1292230" y="548640"/>
            <a:ext cx="1689811" cy="402336"/>
          </a:xfrm>
          <a:prstGeom prst="rect">
            <a:avLst/>
          </a:prstGeom>
          <a:noFill/>
          <a:ln/>
        </p:spPr>
        <p:txBody>
          <a:bodyPr wrap="square" lIns="0" tIns="0" rIns="0" bIns="0" rtlCol="0" anchor="ctr"/>
          <a:lstStyle/>
          <a:p>
            <a:pPr indent="0" marL="0">
              <a:buNone/>
            </a:pPr>
            <a:r>
              <a:rPr lang="en-US" sz="2000" b="1" dirty="0">
                <a:solidFill>
                  <a:srgbClr val="FFFFFF"/>
                </a:solidFill>
                <a:latin typeface="Poppins" pitchFamily="34" charset="0"/>
                <a:ea typeface="Poppins" pitchFamily="34" charset="-122"/>
                <a:cs typeface="Poppins" pitchFamily="34" charset="-120"/>
              </a:rPr>
              <a:t>Plasti</a:t>
            </a:r>
            <a:pPr indent="0" marL="0">
              <a:buNone/>
            </a:pPr>
            <a:r>
              <a:rPr lang="en-US" sz="2000" dirty="0">
                <a:solidFill>
                  <a:srgbClr val="FFFFFF"/>
                </a:solidFill>
                <a:latin typeface="Poppins" pitchFamily="34" charset="0"/>
                <a:ea typeface="Poppins" pitchFamily="34" charset="-122"/>
                <a:cs typeface="Poppins" pitchFamily="34" charset="-120"/>
              </a:rPr>
              <a:t>Bytes</a:t>
            </a:r>
            <a:endParaRPr lang="en-US" sz="2000" dirty="0"/>
          </a:p>
        </p:txBody>
      </p:sp>
      <p:sp>
        <p:nvSpPr>
          <p:cNvPr id="5" name="Text 1"/>
          <p:cNvSpPr/>
          <p:nvPr/>
        </p:nvSpPr>
        <p:spPr>
          <a:xfrm>
            <a:off x="777240" y="2331720"/>
            <a:ext cx="8722516" cy="1828800"/>
          </a:xfrm>
          <a:prstGeom prst="rect">
            <a:avLst/>
          </a:prstGeom>
          <a:noFill/>
          <a:ln/>
        </p:spPr>
        <p:txBody>
          <a:bodyPr wrap="square" lIns="0" tIns="0" rIns="0" bIns="0" rtlCol="0" anchor="b"/>
          <a:lstStyle/>
          <a:p>
            <a:pPr indent="0" marL="0">
              <a:lnSpc>
                <a:spcPct val="102000"/>
              </a:lnSpc>
              <a:buNone/>
            </a:pPr>
            <a:r>
              <a:rPr lang="en-US" sz="4400" b="1" dirty="0">
                <a:solidFill>
                  <a:srgbClr val="FFFFFF"/>
                </a:solidFill>
                <a:latin typeface="Poppins" pitchFamily="34" charset="0"/>
                <a:ea typeface="Poppins" pitchFamily="34" charset="-122"/>
                <a:cs typeface="Poppins" pitchFamily="34" charset="-120"/>
              </a:rPr>
              <a:t>Bottles in. A 3D pen out.</a:t>
            </a:r>
            <a:endParaRPr lang="en-US" sz="4400" dirty="0"/>
          </a:p>
        </p:txBody>
      </p:sp>
      <p:sp>
        <p:nvSpPr>
          <p:cNvPr id="6" name="Shape 2"/>
          <p:cNvSpPr/>
          <p:nvPr/>
        </p:nvSpPr>
        <p:spPr>
          <a:xfrm>
            <a:off x="777240" y="4315968"/>
            <a:ext cx="960120" cy="54864"/>
          </a:xfrm>
          <a:prstGeom prst="rect">
            <a:avLst/>
          </a:prstGeom>
          <a:solidFill>
            <a:srgbClr val="B5FCCD"/>
          </a:solidFill>
          <a:ln w="12700">
            <a:solidFill>
              <a:srgbClr val="333333"/>
            </a:solidFill>
            <a:prstDash val="solid"/>
          </a:ln>
        </p:spPr>
      </p:sp>
      <p:sp>
        <p:nvSpPr>
          <p:cNvPr id="7" name="Text 3"/>
          <p:cNvSpPr/>
          <p:nvPr/>
        </p:nvSpPr>
        <p:spPr>
          <a:xfrm>
            <a:off x="777240" y="4553712"/>
            <a:ext cx="7233306" cy="777240"/>
          </a:xfrm>
          <a:prstGeom prst="rect">
            <a:avLst/>
          </a:prstGeom>
          <a:noFill/>
          <a:ln/>
        </p:spPr>
        <p:txBody>
          <a:bodyPr wrap="square" lIns="0" tIns="0" rIns="0" bIns="0" rtlCol="0" anchor="ctr"/>
          <a:lstStyle/>
          <a:p>
            <a:pPr indent="0" marL="0">
              <a:buNone/>
            </a:pPr>
            <a:r>
              <a:rPr lang="en-US" sz="1800" dirty="0">
                <a:solidFill>
                  <a:srgbClr val="C9E2F5"/>
                </a:solidFill>
                <a:latin typeface="Poppins" pitchFamily="34" charset="0"/>
                <a:ea typeface="Poppins" pitchFamily="34" charset="-122"/>
                <a:cs typeface="Poppins" pitchFamily="34" charset="-120"/>
              </a:rPr>
              <a:t>FlowForge is a handheld 3D printing pen made from a dead 3D printer, running on filament made from drink bottles.</a:t>
            </a:r>
            <a:endParaRPr lang="en-US" sz="1800" dirty="0"/>
          </a:p>
        </p:txBody>
      </p:sp>
      <p:sp>
        <p:nvSpPr>
          <p:cNvPr id="8" name="Text 4"/>
          <p:cNvSpPr/>
          <p:nvPr/>
        </p:nvSpPr>
        <p:spPr>
          <a:xfrm>
            <a:off x="777240" y="5989320"/>
            <a:ext cx="10637215" cy="274320"/>
          </a:xfrm>
          <a:prstGeom prst="rect">
            <a:avLst/>
          </a:prstGeom>
          <a:noFill/>
          <a:ln/>
        </p:spPr>
        <p:txBody>
          <a:bodyPr wrap="square" lIns="0" tIns="0" rIns="0" bIns="0" rtlCol="0" anchor="ctr"/>
          <a:lstStyle/>
          <a:p>
            <a:pPr indent="0" marL="0">
              <a:buNone/>
            </a:pPr>
            <a:r>
              <a:rPr lang="en-US" sz="1100" spc="80" kern="0" dirty="0">
                <a:solidFill>
                  <a:srgbClr val="C9E2F5"/>
                </a:solidFill>
                <a:latin typeface="Poppins" pitchFamily="34" charset="0"/>
                <a:ea typeface="Poppins" pitchFamily="34" charset="-122"/>
                <a:cs typeface="Poppins" pitchFamily="34" charset="-120"/>
              </a:rPr>
              <a:t>Makers, open hardware community, exhibition visitors   ·   August 2026   ·   PlastiBytes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THE PROBLEM</a:t>
            </a:r>
            <a:endParaRPr lang="en-US" sz="1100" dirty="0"/>
          </a:p>
        </p:txBody>
      </p:sp>
      <p:sp>
        <p:nvSpPr>
          <p:cNvPr id="4" name="Text 2"/>
          <p:cNvSpPr/>
          <p:nvPr/>
        </p:nvSpPr>
        <p:spPr>
          <a:xfrm>
            <a:off x="777240" y="1737360"/>
            <a:ext cx="9148005" cy="2625090"/>
          </a:xfrm>
          <a:prstGeom prst="rect">
            <a:avLst/>
          </a:prstGeom>
          <a:noFill/>
          <a:ln/>
        </p:spPr>
        <p:txBody>
          <a:bodyPr wrap="square" lIns="0" tIns="0" rIns="0" bIns="0" rtlCol="0" anchor="t"/>
          <a:lstStyle/>
          <a:p>
            <a:pPr indent="0" marL="0">
              <a:lnSpc>
                <a:spcPct val="106000"/>
              </a:lnSpc>
              <a:buNone/>
            </a:pPr>
            <a:r>
              <a:rPr lang="en-US" sz="3900" b="1" dirty="0">
                <a:solidFill>
                  <a:srgbClr val="0F2A3F"/>
                </a:solidFill>
                <a:latin typeface="Poppins" pitchFamily="34" charset="0"/>
                <a:ea typeface="Poppins" pitchFamily="34" charset="-122"/>
                <a:cs typeface="Poppins" pitchFamily="34" charset="-120"/>
              </a:rPr>
              <a:t>Every maker space sits on two piles of waste that never meet: dead 3D printers and empty PET bottles.</a:t>
            </a:r>
            <a:endParaRPr lang="en-US" sz="3900" dirty="0"/>
          </a:p>
        </p:txBody>
      </p:sp>
      <p:sp>
        <p:nvSpPr>
          <p:cNvPr id="5" name="Shape 3"/>
          <p:cNvSpPr/>
          <p:nvPr/>
        </p:nvSpPr>
        <p:spPr>
          <a:xfrm>
            <a:off x="777240" y="4636770"/>
            <a:ext cx="960120" cy="54864"/>
          </a:xfrm>
          <a:prstGeom prst="rect">
            <a:avLst/>
          </a:prstGeom>
          <a:solidFill>
            <a:srgbClr val="B5FCCD"/>
          </a:solidFill>
          <a:ln w="12700">
            <a:solidFill>
              <a:srgbClr val="333333"/>
            </a:solidFill>
            <a:prstDash val="solid"/>
          </a:ln>
        </p:spPr>
      </p:sp>
      <p:sp>
        <p:nvSpPr>
          <p:cNvPr id="6" name="Text 4"/>
          <p:cNvSpPr/>
          <p:nvPr/>
        </p:nvSpPr>
        <p:spPr>
          <a:xfrm>
            <a:off x="777240" y="4874514"/>
            <a:ext cx="6595073" cy="1398270"/>
          </a:xfrm>
          <a:prstGeom prst="rect">
            <a:avLst/>
          </a:prstGeom>
          <a:noFill/>
          <a:ln/>
        </p:spPr>
        <p:txBody>
          <a:bodyPr wrap="square" lIns="0" tIns="0" rIns="0" bIns="0" rtlCol="0" anchor="t"/>
          <a:lstStyle/>
          <a:p>
            <a:pPr indent="0" marL="0">
              <a:buNone/>
            </a:pPr>
            <a:r>
              <a:rPr lang="en-US" sz="1600" dirty="0">
                <a:solidFill>
                  <a:srgbClr val="6B8299"/>
                </a:solidFill>
                <a:latin typeface="Poppins" pitchFamily="34" charset="0"/>
                <a:ea typeface="Poppins" pitchFamily="34" charset="-122"/>
                <a:cs typeface="Poppins" pitchFamily="34" charset="-120"/>
              </a:rPr>
              <a:t>A printer is usually retired for one failure. The hot end, the steppers and the extruder gears are still perfect.</a:t>
            </a:r>
            <a:endParaRPr lang="en-US" sz="1600" dirty="0"/>
          </a:p>
        </p:txBody>
      </p:sp>
      <p:sp>
        <p:nvSpPr>
          <p:cNvPr id="8" name="Text 5"/>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WHY IT IS STUCK</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A commercial 3D pen is a closed box, and imported filament is priced for somewhere else</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sp>
        <p:nvSpPr>
          <p:cNvPr id="6" name="Shape 4"/>
          <p:cNvSpPr/>
          <p:nvPr/>
        </p:nvSpPr>
        <p:spPr>
          <a:xfrm>
            <a:off x="777240" y="1691640"/>
            <a:ext cx="3326282" cy="2834640"/>
          </a:xfrm>
          <a:prstGeom prst="roundRect">
            <a:avLst>
              <a:gd name="adj" fmla="val 3871"/>
            </a:avLst>
          </a:prstGeom>
          <a:solidFill>
            <a:srgbClr val="F4F9FD"/>
          </a:solidFill>
          <a:ln w="12700">
            <a:solidFill>
              <a:srgbClr val="DCE7F0"/>
            </a:solidFill>
            <a:prstDash val="solid"/>
          </a:ln>
        </p:spPr>
      </p:sp>
      <p:sp>
        <p:nvSpPr>
          <p:cNvPr id="7" name="Shape 5"/>
          <p:cNvSpPr/>
          <p:nvPr/>
        </p:nvSpPr>
        <p:spPr>
          <a:xfrm>
            <a:off x="1051560" y="1965960"/>
            <a:ext cx="182880" cy="182880"/>
          </a:xfrm>
          <a:prstGeom prst="roundRect">
            <a:avLst>
              <a:gd name="adj" fmla="val 28000"/>
            </a:avLst>
          </a:prstGeom>
          <a:solidFill>
            <a:srgbClr val="3D90D7"/>
          </a:solidFill>
          <a:ln w="12700">
            <a:solidFill>
              <a:srgbClr val="3D90D7"/>
            </a:solidFill>
            <a:prstDash val="solid"/>
          </a:ln>
        </p:spPr>
      </p:sp>
      <p:sp>
        <p:nvSpPr>
          <p:cNvPr id="8" name="Text 6"/>
          <p:cNvSpPr/>
          <p:nvPr/>
        </p:nvSpPr>
        <p:spPr>
          <a:xfrm>
            <a:off x="1051560" y="2258568"/>
            <a:ext cx="2777642"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You cannot open it</a:t>
            </a:r>
            <a:endParaRPr lang="en-US" sz="1600" dirty="0"/>
          </a:p>
        </p:txBody>
      </p:sp>
      <p:sp>
        <p:nvSpPr>
          <p:cNvPr id="9" name="Text 7"/>
          <p:cNvSpPr/>
          <p:nvPr/>
        </p:nvSpPr>
        <p:spPr>
          <a:xfrm>
            <a:off x="1051560" y="2642616"/>
            <a:ext cx="2777642" cy="1645920"/>
          </a:xfrm>
          <a:prstGeom prst="rect">
            <a:avLst/>
          </a:prstGeom>
          <a:noFill/>
          <a:ln/>
        </p:spPr>
        <p:txBody>
          <a:bodyPr wrap="square" lIns="0" tIns="0" rIns="0" bIns="0" rtlCol="0" anchor="t"/>
          <a:lstStyle/>
          <a:p>
            <a:pPr indent="0" marL="0">
              <a:buNone/>
            </a:pPr>
            <a:r>
              <a:rPr lang="en-US" sz="1400" dirty="0">
                <a:solidFill>
                  <a:srgbClr val="6B8299"/>
                </a:solidFill>
                <a:latin typeface="Poppins" pitchFamily="34" charset="0"/>
                <a:ea typeface="Poppins" pitchFamily="34" charset="-122"/>
                <a:cs typeface="Poppins" pitchFamily="34" charset="-120"/>
              </a:rPr>
              <a:t>No schematics, no spares. A clogged nozzle turns the pen into waste.</a:t>
            </a:r>
            <a:endParaRPr lang="en-US" sz="1400" dirty="0"/>
          </a:p>
        </p:txBody>
      </p:sp>
      <p:sp>
        <p:nvSpPr>
          <p:cNvPr id="10" name="Shape 8"/>
          <p:cNvSpPr/>
          <p:nvPr/>
        </p:nvSpPr>
        <p:spPr>
          <a:xfrm>
            <a:off x="4432706" y="1691640"/>
            <a:ext cx="3326282" cy="2834640"/>
          </a:xfrm>
          <a:prstGeom prst="roundRect">
            <a:avLst>
              <a:gd name="adj" fmla="val 3871"/>
            </a:avLst>
          </a:prstGeom>
          <a:solidFill>
            <a:srgbClr val="F4F9FD"/>
          </a:solidFill>
          <a:ln w="12700">
            <a:solidFill>
              <a:srgbClr val="DCE7F0"/>
            </a:solidFill>
            <a:prstDash val="solid"/>
          </a:ln>
        </p:spPr>
      </p:sp>
      <p:sp>
        <p:nvSpPr>
          <p:cNvPr id="11" name="Shape 9"/>
          <p:cNvSpPr/>
          <p:nvPr/>
        </p:nvSpPr>
        <p:spPr>
          <a:xfrm>
            <a:off x="4707026" y="1965960"/>
            <a:ext cx="182880" cy="182880"/>
          </a:xfrm>
          <a:prstGeom prst="roundRect">
            <a:avLst>
              <a:gd name="adj" fmla="val 28000"/>
            </a:avLst>
          </a:prstGeom>
          <a:solidFill>
            <a:srgbClr val="3D90D7"/>
          </a:solidFill>
          <a:ln w="12700">
            <a:solidFill>
              <a:srgbClr val="3D90D7"/>
            </a:solidFill>
            <a:prstDash val="solid"/>
          </a:ln>
        </p:spPr>
      </p:sp>
      <p:sp>
        <p:nvSpPr>
          <p:cNvPr id="12" name="Text 10"/>
          <p:cNvSpPr/>
          <p:nvPr/>
        </p:nvSpPr>
        <p:spPr>
          <a:xfrm>
            <a:off x="4707026" y="2258568"/>
            <a:ext cx="2777642"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You cannot change it</a:t>
            </a:r>
            <a:endParaRPr lang="en-US" sz="1600" dirty="0"/>
          </a:p>
        </p:txBody>
      </p:sp>
      <p:sp>
        <p:nvSpPr>
          <p:cNvPr id="13" name="Text 11"/>
          <p:cNvSpPr/>
          <p:nvPr/>
        </p:nvSpPr>
        <p:spPr>
          <a:xfrm>
            <a:off x="4707026" y="2642616"/>
            <a:ext cx="2777642" cy="1645920"/>
          </a:xfrm>
          <a:prstGeom prst="rect">
            <a:avLst/>
          </a:prstGeom>
          <a:noFill/>
          <a:ln/>
        </p:spPr>
        <p:txBody>
          <a:bodyPr wrap="square" lIns="0" tIns="0" rIns="0" bIns="0" rtlCol="0" anchor="t"/>
          <a:lstStyle/>
          <a:p>
            <a:pPr indent="0" marL="0">
              <a:buNone/>
            </a:pPr>
            <a:r>
              <a:rPr lang="en-US" sz="1400" dirty="0">
                <a:solidFill>
                  <a:srgbClr val="6B8299"/>
                </a:solidFill>
                <a:latin typeface="Poppins" pitchFamily="34" charset="0"/>
                <a:ea typeface="Poppins" pitchFamily="34" charset="-122"/>
                <a:cs typeface="Poppins" pitchFamily="34" charset="-120"/>
              </a:rPr>
              <a:t>Temperature and speed are fixed by the maker.</a:t>
            </a:r>
            <a:endParaRPr lang="en-US" sz="1400" dirty="0"/>
          </a:p>
        </p:txBody>
      </p:sp>
      <p:sp>
        <p:nvSpPr>
          <p:cNvPr id="14" name="Shape 12"/>
          <p:cNvSpPr/>
          <p:nvPr/>
        </p:nvSpPr>
        <p:spPr>
          <a:xfrm>
            <a:off x="8088173" y="1691640"/>
            <a:ext cx="3326282" cy="2834640"/>
          </a:xfrm>
          <a:prstGeom prst="roundRect">
            <a:avLst>
              <a:gd name="adj" fmla="val 3871"/>
            </a:avLst>
          </a:prstGeom>
          <a:solidFill>
            <a:srgbClr val="F4F9FD"/>
          </a:solidFill>
          <a:ln w="12700">
            <a:solidFill>
              <a:srgbClr val="DCE7F0"/>
            </a:solidFill>
            <a:prstDash val="solid"/>
          </a:ln>
        </p:spPr>
      </p:sp>
      <p:sp>
        <p:nvSpPr>
          <p:cNvPr id="15" name="Shape 13"/>
          <p:cNvSpPr/>
          <p:nvPr/>
        </p:nvSpPr>
        <p:spPr>
          <a:xfrm>
            <a:off x="8362493" y="1965960"/>
            <a:ext cx="182880" cy="182880"/>
          </a:xfrm>
          <a:prstGeom prst="roundRect">
            <a:avLst>
              <a:gd name="adj" fmla="val 28000"/>
            </a:avLst>
          </a:prstGeom>
          <a:solidFill>
            <a:srgbClr val="3D90D7"/>
          </a:solidFill>
          <a:ln w="12700">
            <a:solidFill>
              <a:srgbClr val="3D90D7"/>
            </a:solidFill>
            <a:prstDash val="solid"/>
          </a:ln>
        </p:spPr>
      </p:sp>
      <p:sp>
        <p:nvSpPr>
          <p:cNvPr id="16" name="Text 14"/>
          <p:cNvSpPr/>
          <p:nvPr/>
        </p:nvSpPr>
        <p:spPr>
          <a:xfrm>
            <a:off x="8362493" y="2258568"/>
            <a:ext cx="2777642"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The filament is imported</a:t>
            </a:r>
            <a:endParaRPr lang="en-US" sz="1600" dirty="0"/>
          </a:p>
        </p:txBody>
      </p:sp>
      <p:sp>
        <p:nvSpPr>
          <p:cNvPr id="17" name="Text 15"/>
          <p:cNvSpPr/>
          <p:nvPr/>
        </p:nvSpPr>
        <p:spPr>
          <a:xfrm>
            <a:off x="8362493" y="2642616"/>
            <a:ext cx="2777642" cy="1645920"/>
          </a:xfrm>
          <a:prstGeom prst="rect">
            <a:avLst/>
          </a:prstGeom>
          <a:noFill/>
          <a:ln/>
        </p:spPr>
        <p:txBody>
          <a:bodyPr wrap="square" lIns="0" tIns="0" rIns="0" bIns="0" rtlCol="0" anchor="t"/>
          <a:lstStyle/>
          <a:p>
            <a:pPr indent="0" marL="0">
              <a:buNone/>
            </a:pPr>
            <a:r>
              <a:rPr lang="en-US" sz="1400" dirty="0">
                <a:solidFill>
                  <a:srgbClr val="6B8299"/>
                </a:solidFill>
                <a:latin typeface="Poppins" pitchFamily="34" charset="0"/>
                <a:ea typeface="Poppins" pitchFamily="34" charset="-122"/>
                <a:cs typeface="Poppins" pitchFamily="34" charset="-120"/>
              </a:rPr>
              <a:t>Every spool arrives by ship, priced in a foreign currency.</a:t>
            </a:r>
            <a:endParaRPr lang="en-US" sz="1400" dirty="0"/>
          </a:p>
        </p:txBody>
      </p:sp>
      <p:sp>
        <p:nvSpPr>
          <p:cNvPr id="19" name="Text 16"/>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THE IDEA</a:t>
            </a:r>
            <a:endParaRPr lang="en-US" sz="1100" dirty="0"/>
          </a:p>
        </p:txBody>
      </p:sp>
      <p:sp>
        <p:nvSpPr>
          <p:cNvPr id="4" name="Text 2"/>
          <p:cNvSpPr/>
          <p:nvPr/>
        </p:nvSpPr>
        <p:spPr>
          <a:xfrm>
            <a:off x="777240" y="1737360"/>
            <a:ext cx="9148005" cy="2423160"/>
          </a:xfrm>
          <a:prstGeom prst="rect">
            <a:avLst/>
          </a:prstGeom>
          <a:noFill/>
          <a:ln/>
        </p:spPr>
        <p:txBody>
          <a:bodyPr wrap="square" lIns="0" tIns="0" rIns="0" bIns="0" rtlCol="0" anchor="t"/>
          <a:lstStyle/>
          <a:p>
            <a:pPr indent="0" marL="0">
              <a:lnSpc>
                <a:spcPct val="106000"/>
              </a:lnSpc>
              <a:buNone/>
            </a:pPr>
            <a:r>
              <a:rPr lang="en-US" sz="3600" b="1" dirty="0">
                <a:solidFill>
                  <a:srgbClr val="0F2A3F"/>
                </a:solidFill>
                <a:latin typeface="Poppins" pitchFamily="34" charset="0"/>
                <a:ea typeface="Poppins" pitchFamily="34" charset="-122"/>
                <a:cs typeface="Poppins" pitchFamily="34" charset="-120"/>
              </a:rPr>
              <a:t>FlowForge is built from a dead printer, fed on bottle plastic, and wrapped in a body printed from that same plastic.</a:t>
            </a:r>
            <a:endParaRPr lang="en-US" sz="3600" dirty="0"/>
          </a:p>
        </p:txBody>
      </p:sp>
      <p:sp>
        <p:nvSpPr>
          <p:cNvPr id="5" name="Shape 3"/>
          <p:cNvSpPr/>
          <p:nvPr/>
        </p:nvSpPr>
        <p:spPr>
          <a:xfrm>
            <a:off x="777240" y="4434840"/>
            <a:ext cx="960120" cy="54864"/>
          </a:xfrm>
          <a:prstGeom prst="rect">
            <a:avLst/>
          </a:prstGeom>
          <a:solidFill>
            <a:srgbClr val="B5FCCD"/>
          </a:solidFill>
          <a:ln w="12700">
            <a:solidFill>
              <a:srgbClr val="333333"/>
            </a:solidFill>
            <a:prstDash val="solid"/>
          </a:ln>
        </p:spPr>
      </p:sp>
      <p:sp>
        <p:nvSpPr>
          <p:cNvPr id="6" name="Text 4"/>
          <p:cNvSpPr/>
          <p:nvPr/>
        </p:nvSpPr>
        <p:spPr>
          <a:xfrm>
            <a:off x="777240" y="4672584"/>
            <a:ext cx="6595073" cy="1600200"/>
          </a:xfrm>
          <a:prstGeom prst="rect">
            <a:avLst/>
          </a:prstGeom>
          <a:noFill/>
          <a:ln/>
        </p:spPr>
        <p:txBody>
          <a:bodyPr wrap="square" lIns="0" tIns="0" rIns="0" bIns="0" rtlCol="0" anchor="t"/>
          <a:lstStyle/>
          <a:p>
            <a:pPr indent="0" marL="0">
              <a:buNone/>
            </a:pPr>
            <a:r>
              <a:rPr lang="en-US" sz="1600" dirty="0">
                <a:solidFill>
                  <a:srgbClr val="6B8299"/>
                </a:solidFill>
                <a:latin typeface="Poppins" pitchFamily="34" charset="0"/>
                <a:ea typeface="Poppins" pitchFamily="34" charset="-122"/>
                <a:cs typeface="Poppins" pitchFamily="34" charset="-120"/>
              </a:rPr>
              <a:t>A FlowForge can print the parts for the next FlowForge. That is what makes it a loop and not a gesture.</a:t>
            </a:r>
            <a:endParaRPr lang="en-US" sz="1600" dirty="0"/>
          </a:p>
        </p:txBody>
      </p:sp>
      <p:sp>
        <p:nvSpPr>
          <p:cNvPr id="8" name="Text 5"/>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WHAT IT IS MADE OF</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Almost nothing in this pen was bought new</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sp>
        <p:nvSpPr>
          <p:cNvPr id="6" name="Shape 4"/>
          <p:cNvSpPr/>
          <p:nvPr/>
        </p:nvSpPr>
        <p:spPr>
          <a:xfrm>
            <a:off x="777240" y="2057400"/>
            <a:ext cx="3301898" cy="2377440"/>
          </a:xfrm>
          <a:prstGeom prst="roundRect">
            <a:avLst>
              <a:gd name="adj" fmla="val 4615"/>
            </a:avLst>
          </a:prstGeom>
          <a:solidFill>
            <a:srgbClr val="F4F9FD"/>
          </a:solidFill>
          <a:ln w="12700">
            <a:solidFill>
              <a:srgbClr val="DCE7F0"/>
            </a:solidFill>
            <a:prstDash val="solid"/>
          </a:ln>
        </p:spPr>
      </p:sp>
      <p:sp>
        <p:nvSpPr>
          <p:cNvPr id="7" name="Shape 5"/>
          <p:cNvSpPr/>
          <p:nvPr/>
        </p:nvSpPr>
        <p:spPr>
          <a:xfrm>
            <a:off x="1088136" y="2331720"/>
            <a:ext cx="457200" cy="45720"/>
          </a:xfrm>
          <a:prstGeom prst="rect">
            <a:avLst/>
          </a:prstGeom>
          <a:solidFill>
            <a:srgbClr val="B5FCCD"/>
          </a:solidFill>
          <a:ln w="12700">
            <a:solidFill>
              <a:srgbClr val="333333"/>
            </a:solidFill>
            <a:prstDash val="solid"/>
          </a:ln>
        </p:spPr>
      </p:sp>
      <p:sp>
        <p:nvSpPr>
          <p:cNvPr id="8" name="Text 6"/>
          <p:cNvSpPr/>
          <p:nvPr/>
        </p:nvSpPr>
        <p:spPr>
          <a:xfrm>
            <a:off x="1051560" y="2578608"/>
            <a:ext cx="2753258" cy="1051560"/>
          </a:xfrm>
          <a:prstGeom prst="rect">
            <a:avLst/>
          </a:prstGeom>
          <a:noFill/>
          <a:ln/>
        </p:spPr>
        <p:txBody>
          <a:bodyPr wrap="square" lIns="0" tIns="0" rIns="0" bIns="0" rtlCol="0" anchor="ctr"/>
          <a:lstStyle/>
          <a:p>
            <a:pPr indent="0" marL="0">
              <a:buNone/>
            </a:pPr>
            <a:r>
              <a:rPr lang="en-US" sz="5000" b="1" dirty="0">
                <a:solidFill>
                  <a:srgbClr val="3D90D7"/>
                </a:solidFill>
                <a:latin typeface="Poppins" pitchFamily="34" charset="0"/>
                <a:ea typeface="Poppins" pitchFamily="34" charset="-122"/>
                <a:cs typeface="Poppins" pitchFamily="34" charset="-120"/>
              </a:rPr>
              <a:t>9 of 11</a:t>
            </a:r>
            <a:endParaRPr lang="en-US" sz="5000" dirty="0"/>
          </a:p>
        </p:txBody>
      </p:sp>
      <p:sp>
        <p:nvSpPr>
          <p:cNvPr id="9" name="Text 7"/>
          <p:cNvSpPr/>
          <p:nvPr/>
        </p:nvSpPr>
        <p:spPr>
          <a:xfrm>
            <a:off x="1051560" y="3657600"/>
            <a:ext cx="2753258" cy="621792"/>
          </a:xfrm>
          <a:prstGeom prst="rect">
            <a:avLst/>
          </a:prstGeom>
          <a:noFill/>
          <a:ln/>
        </p:spPr>
        <p:txBody>
          <a:bodyPr wrap="square" lIns="0" tIns="0" rIns="0" bIns="0" rtlCol="0" anchor="t"/>
          <a:lstStyle/>
          <a:p>
            <a:pPr indent="0" marL="0">
              <a:buNone/>
            </a:pPr>
            <a:r>
              <a:rPr lang="en-US" sz="1300" dirty="0">
                <a:solidFill>
                  <a:srgbClr val="0F2A3F"/>
                </a:solidFill>
                <a:latin typeface="Poppins" pitchFamily="34" charset="0"/>
                <a:ea typeface="Poppins" pitchFamily="34" charset="-122"/>
                <a:cs typeface="Poppins" pitchFamily="34" charset="-120"/>
              </a:rPr>
              <a:t>line items on the bill of materials are salvaged</a:t>
            </a:r>
            <a:endParaRPr lang="en-US" sz="1300" dirty="0"/>
          </a:p>
        </p:txBody>
      </p:sp>
      <p:sp>
        <p:nvSpPr>
          <p:cNvPr id="10" name="Shape 8"/>
          <p:cNvSpPr/>
          <p:nvPr/>
        </p:nvSpPr>
        <p:spPr>
          <a:xfrm>
            <a:off x="4444898" y="2057400"/>
            <a:ext cx="3301898" cy="2377440"/>
          </a:xfrm>
          <a:prstGeom prst="roundRect">
            <a:avLst>
              <a:gd name="adj" fmla="val 4615"/>
            </a:avLst>
          </a:prstGeom>
          <a:solidFill>
            <a:srgbClr val="F4F9FD"/>
          </a:solidFill>
          <a:ln w="12700">
            <a:solidFill>
              <a:srgbClr val="DCE7F0"/>
            </a:solidFill>
            <a:prstDash val="solid"/>
          </a:ln>
        </p:spPr>
      </p:sp>
      <p:sp>
        <p:nvSpPr>
          <p:cNvPr id="11" name="Shape 9"/>
          <p:cNvSpPr/>
          <p:nvPr/>
        </p:nvSpPr>
        <p:spPr>
          <a:xfrm>
            <a:off x="4755794" y="2331720"/>
            <a:ext cx="457200" cy="45720"/>
          </a:xfrm>
          <a:prstGeom prst="rect">
            <a:avLst/>
          </a:prstGeom>
          <a:solidFill>
            <a:srgbClr val="B5FCCD"/>
          </a:solidFill>
          <a:ln w="12700">
            <a:solidFill>
              <a:srgbClr val="333333"/>
            </a:solidFill>
            <a:prstDash val="solid"/>
          </a:ln>
        </p:spPr>
      </p:sp>
      <p:sp>
        <p:nvSpPr>
          <p:cNvPr id="12" name="Text 10"/>
          <p:cNvSpPr/>
          <p:nvPr/>
        </p:nvSpPr>
        <p:spPr>
          <a:xfrm>
            <a:off x="4719218" y="2578608"/>
            <a:ext cx="2753258" cy="1051560"/>
          </a:xfrm>
          <a:prstGeom prst="rect">
            <a:avLst/>
          </a:prstGeom>
          <a:noFill/>
          <a:ln/>
        </p:spPr>
        <p:txBody>
          <a:bodyPr wrap="square" lIns="0" tIns="0" rIns="0" bIns="0" rtlCol="0" anchor="ctr"/>
          <a:lstStyle/>
          <a:p>
            <a:pPr indent="0" marL="0">
              <a:buNone/>
            </a:pPr>
            <a:r>
              <a:rPr lang="en-US" sz="5000" b="1" dirty="0">
                <a:solidFill>
                  <a:srgbClr val="3D90D7"/>
                </a:solidFill>
                <a:latin typeface="Poppins" pitchFamily="34" charset="0"/>
                <a:ea typeface="Poppins" pitchFamily="34" charset="-122"/>
                <a:cs typeface="Poppins" pitchFamily="34" charset="-120"/>
              </a:rPr>
              <a:t>0</a:t>
            </a:r>
            <a:endParaRPr lang="en-US" sz="5000" dirty="0"/>
          </a:p>
        </p:txBody>
      </p:sp>
      <p:sp>
        <p:nvSpPr>
          <p:cNvPr id="13" name="Text 11"/>
          <p:cNvSpPr/>
          <p:nvPr/>
        </p:nvSpPr>
        <p:spPr>
          <a:xfrm>
            <a:off x="4719218" y="3657600"/>
            <a:ext cx="2753258" cy="621792"/>
          </a:xfrm>
          <a:prstGeom prst="rect">
            <a:avLst/>
          </a:prstGeom>
          <a:noFill/>
          <a:ln/>
        </p:spPr>
        <p:txBody>
          <a:bodyPr wrap="square" lIns="0" tIns="0" rIns="0" bIns="0" rtlCol="0" anchor="t"/>
          <a:lstStyle/>
          <a:p>
            <a:pPr indent="0" marL="0">
              <a:buNone/>
            </a:pPr>
            <a:r>
              <a:rPr lang="en-US" sz="1300" dirty="0">
                <a:solidFill>
                  <a:srgbClr val="0F2A3F"/>
                </a:solidFill>
                <a:latin typeface="Poppins" pitchFamily="34" charset="0"/>
                <a:ea typeface="Poppins" pitchFamily="34" charset="-122"/>
                <a:cs typeface="Poppins" pitchFamily="34" charset="-120"/>
              </a:rPr>
              <a:t>new microcontrollers, sensors or motors bought</a:t>
            </a:r>
            <a:endParaRPr lang="en-US" sz="1300" dirty="0"/>
          </a:p>
        </p:txBody>
      </p:sp>
      <p:sp>
        <p:nvSpPr>
          <p:cNvPr id="14" name="Shape 12"/>
          <p:cNvSpPr/>
          <p:nvPr/>
        </p:nvSpPr>
        <p:spPr>
          <a:xfrm>
            <a:off x="8112557" y="2057400"/>
            <a:ext cx="3301898" cy="2377440"/>
          </a:xfrm>
          <a:prstGeom prst="roundRect">
            <a:avLst>
              <a:gd name="adj" fmla="val 4615"/>
            </a:avLst>
          </a:prstGeom>
          <a:solidFill>
            <a:srgbClr val="F4F9FD"/>
          </a:solidFill>
          <a:ln w="12700">
            <a:solidFill>
              <a:srgbClr val="DCE7F0"/>
            </a:solidFill>
            <a:prstDash val="solid"/>
          </a:ln>
        </p:spPr>
      </p:sp>
      <p:sp>
        <p:nvSpPr>
          <p:cNvPr id="15" name="Shape 13"/>
          <p:cNvSpPr/>
          <p:nvPr/>
        </p:nvSpPr>
        <p:spPr>
          <a:xfrm>
            <a:off x="8423453" y="2331720"/>
            <a:ext cx="457200" cy="45720"/>
          </a:xfrm>
          <a:prstGeom prst="rect">
            <a:avLst/>
          </a:prstGeom>
          <a:solidFill>
            <a:srgbClr val="B5FCCD"/>
          </a:solidFill>
          <a:ln w="12700">
            <a:solidFill>
              <a:srgbClr val="333333"/>
            </a:solidFill>
            <a:prstDash val="solid"/>
          </a:ln>
        </p:spPr>
      </p:sp>
      <p:sp>
        <p:nvSpPr>
          <p:cNvPr id="16" name="Text 14"/>
          <p:cNvSpPr/>
          <p:nvPr/>
        </p:nvSpPr>
        <p:spPr>
          <a:xfrm>
            <a:off x="8386877" y="2578608"/>
            <a:ext cx="2753258" cy="1051560"/>
          </a:xfrm>
          <a:prstGeom prst="rect">
            <a:avLst/>
          </a:prstGeom>
          <a:noFill/>
          <a:ln/>
        </p:spPr>
        <p:txBody>
          <a:bodyPr wrap="square" lIns="0" tIns="0" rIns="0" bIns="0" rtlCol="0" anchor="ctr"/>
          <a:lstStyle/>
          <a:p>
            <a:pPr indent="0" marL="0">
              <a:buNone/>
            </a:pPr>
            <a:r>
              <a:rPr lang="en-US" sz="5000" b="1" dirty="0">
                <a:solidFill>
                  <a:srgbClr val="3D90D7"/>
                </a:solidFill>
                <a:latin typeface="Poppins" pitchFamily="34" charset="0"/>
                <a:ea typeface="Poppins" pitchFamily="34" charset="-122"/>
                <a:cs typeface="Poppins" pitchFamily="34" charset="-120"/>
              </a:rPr>
              <a:t>74 g</a:t>
            </a:r>
            <a:endParaRPr lang="en-US" sz="5000" dirty="0"/>
          </a:p>
        </p:txBody>
      </p:sp>
      <p:sp>
        <p:nvSpPr>
          <p:cNvPr id="17" name="Text 15"/>
          <p:cNvSpPr/>
          <p:nvPr/>
        </p:nvSpPr>
        <p:spPr>
          <a:xfrm>
            <a:off x="8386877" y="3657600"/>
            <a:ext cx="2753258" cy="621792"/>
          </a:xfrm>
          <a:prstGeom prst="rect">
            <a:avLst/>
          </a:prstGeom>
          <a:noFill/>
          <a:ln/>
        </p:spPr>
        <p:txBody>
          <a:bodyPr wrap="square" lIns="0" tIns="0" rIns="0" bIns="0" rtlCol="0" anchor="t"/>
          <a:lstStyle/>
          <a:p>
            <a:pPr indent="0" marL="0">
              <a:buNone/>
            </a:pPr>
            <a:r>
              <a:rPr lang="en-US" sz="1300" dirty="0">
                <a:solidFill>
                  <a:srgbClr val="0F2A3F"/>
                </a:solidFill>
                <a:latin typeface="Poppins" pitchFamily="34" charset="0"/>
                <a:ea typeface="Poppins" pitchFamily="34" charset="-122"/>
                <a:cs typeface="Poppins" pitchFamily="34" charset="-120"/>
              </a:rPr>
              <a:t>recycled PET printed into the enclosure</a:t>
            </a:r>
            <a:endParaRPr lang="en-US" sz="1300" dirty="0"/>
          </a:p>
        </p:txBody>
      </p:sp>
      <p:sp>
        <p:nvSpPr>
          <p:cNvPr id="18" name="Text 16"/>
          <p:cNvSpPr/>
          <p:nvPr/>
        </p:nvSpPr>
        <p:spPr>
          <a:xfrm>
            <a:off x="777240" y="4681728"/>
            <a:ext cx="10637215" cy="274320"/>
          </a:xfrm>
          <a:prstGeom prst="rect">
            <a:avLst/>
          </a:prstGeom>
          <a:noFill/>
          <a:ln/>
        </p:spPr>
        <p:txBody>
          <a:bodyPr wrap="square" lIns="0" tIns="0" rIns="0" bIns="0" rtlCol="0" anchor="ctr"/>
          <a:lstStyle/>
          <a:p>
            <a:pPr indent="0" marL="0">
              <a:buNone/>
            </a:pPr>
            <a:r>
              <a:rPr lang="en-US" sz="1050" i="1" dirty="0">
                <a:solidFill>
                  <a:srgbClr val="6B8299"/>
                </a:solidFill>
                <a:latin typeface="Poppins" pitchFamily="34" charset="0"/>
                <a:ea typeface="Poppins" pitchFamily="34" charset="-122"/>
                <a:cs typeface="Poppins" pitchFamily="34" charset="-120"/>
              </a:rPr>
              <a:t>Source: FlowForge build documentation, section 3</a:t>
            </a:r>
            <a:endParaRPr lang="en-US" sz="1050" dirty="0"/>
          </a:p>
        </p:txBody>
      </p:sp>
      <p:sp>
        <p:nvSpPr>
          <p:cNvPr id="20" name="Text 17"/>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HOW IT WORKS</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The heavy half stays on the desk. The hand holds 40 g, not 400 g</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sp>
        <p:nvSpPr>
          <p:cNvPr id="6" name="Shape 4"/>
          <p:cNvSpPr/>
          <p:nvPr/>
        </p:nvSpPr>
        <p:spPr>
          <a:xfrm>
            <a:off x="777240" y="1819656"/>
            <a:ext cx="128016" cy="128016"/>
          </a:xfrm>
          <a:prstGeom prst="roundRect">
            <a:avLst>
              <a:gd name="adj" fmla="val 28000"/>
            </a:avLst>
          </a:prstGeom>
          <a:solidFill>
            <a:srgbClr val="3D90D7"/>
          </a:solidFill>
          <a:ln w="12700">
            <a:solidFill>
              <a:srgbClr val="3D90D7"/>
            </a:solidFill>
            <a:prstDash val="solid"/>
          </a:ln>
        </p:spPr>
      </p:sp>
      <p:sp>
        <p:nvSpPr>
          <p:cNvPr id="7" name="Text 5"/>
          <p:cNvSpPr/>
          <p:nvPr/>
        </p:nvSpPr>
        <p:spPr>
          <a:xfrm>
            <a:off x="1069848" y="1691640"/>
            <a:ext cx="4600511" cy="402336"/>
          </a:xfrm>
          <a:prstGeom prst="rect">
            <a:avLst/>
          </a:prstGeom>
          <a:noFill/>
          <a:ln/>
        </p:spPr>
        <p:txBody>
          <a:bodyPr wrap="square" lIns="0" tIns="0" rIns="0" bIns="0" rtlCol="0" anchor="t"/>
          <a:lstStyle/>
          <a:p>
            <a:pPr indent="0" marL="0">
              <a:buNone/>
            </a:pPr>
            <a:r>
              <a:rPr lang="en-US" sz="1600" dirty="0">
                <a:solidFill>
                  <a:srgbClr val="0F2A3F"/>
                </a:solidFill>
                <a:latin typeface="Poppins" pitchFamily="34" charset="0"/>
                <a:ea typeface="Poppins" pitchFamily="34" charset="-122"/>
                <a:cs typeface="Poppins" pitchFamily="34" charset="-120"/>
              </a:rPr>
              <a:t>24 V bench supply feeds a desktop electronics wedge</a:t>
            </a:r>
            <a:endParaRPr lang="en-US" sz="1600" dirty="0"/>
          </a:p>
        </p:txBody>
      </p:sp>
      <p:sp>
        <p:nvSpPr>
          <p:cNvPr id="8" name="Shape 6"/>
          <p:cNvSpPr/>
          <p:nvPr/>
        </p:nvSpPr>
        <p:spPr>
          <a:xfrm>
            <a:off x="777240" y="2386584"/>
            <a:ext cx="128016" cy="128016"/>
          </a:xfrm>
          <a:prstGeom prst="roundRect">
            <a:avLst>
              <a:gd name="adj" fmla="val 28000"/>
            </a:avLst>
          </a:prstGeom>
          <a:solidFill>
            <a:srgbClr val="3D90D7"/>
          </a:solidFill>
          <a:ln w="12700">
            <a:solidFill>
              <a:srgbClr val="3D90D7"/>
            </a:solidFill>
            <a:prstDash val="solid"/>
          </a:ln>
        </p:spPr>
      </p:sp>
      <p:sp>
        <p:nvSpPr>
          <p:cNvPr id="9" name="Text 7"/>
          <p:cNvSpPr/>
          <p:nvPr/>
        </p:nvSpPr>
        <p:spPr>
          <a:xfrm>
            <a:off x="1069848" y="2258568"/>
            <a:ext cx="4600511" cy="402336"/>
          </a:xfrm>
          <a:prstGeom prst="rect">
            <a:avLst/>
          </a:prstGeom>
          <a:noFill/>
          <a:ln/>
        </p:spPr>
        <p:txBody>
          <a:bodyPr wrap="square" lIns="0" tIns="0" rIns="0" bIns="0" rtlCol="0" anchor="t"/>
          <a:lstStyle/>
          <a:p>
            <a:pPr indent="0" marL="0">
              <a:buNone/>
            </a:pPr>
            <a:r>
              <a:rPr lang="en-US" sz="1600" dirty="0">
                <a:solidFill>
                  <a:srgbClr val="0F2A3F"/>
                </a:solidFill>
                <a:latin typeface="Poppins" pitchFamily="34" charset="0"/>
                <a:ea typeface="Poppins" pitchFamily="34" charset="-122"/>
                <a:cs typeface="Poppins" pitchFamily="34" charset="-120"/>
              </a:rPr>
              <a:t>Arduino Mega and RAMPS 1.6, both pulled from the donor printer</a:t>
            </a:r>
            <a:endParaRPr lang="en-US" sz="1600" dirty="0"/>
          </a:p>
        </p:txBody>
      </p:sp>
      <p:sp>
        <p:nvSpPr>
          <p:cNvPr id="10" name="Shape 8"/>
          <p:cNvSpPr/>
          <p:nvPr/>
        </p:nvSpPr>
        <p:spPr>
          <a:xfrm>
            <a:off x="777240" y="2953512"/>
            <a:ext cx="128016" cy="128016"/>
          </a:xfrm>
          <a:prstGeom prst="roundRect">
            <a:avLst>
              <a:gd name="adj" fmla="val 28000"/>
            </a:avLst>
          </a:prstGeom>
          <a:solidFill>
            <a:srgbClr val="3D90D7"/>
          </a:solidFill>
          <a:ln w="12700">
            <a:solidFill>
              <a:srgbClr val="3D90D7"/>
            </a:solidFill>
            <a:prstDash val="solid"/>
          </a:ln>
        </p:spPr>
      </p:sp>
      <p:sp>
        <p:nvSpPr>
          <p:cNvPr id="11" name="Text 9"/>
          <p:cNvSpPr/>
          <p:nvPr/>
        </p:nvSpPr>
        <p:spPr>
          <a:xfrm>
            <a:off x="1069848" y="2825496"/>
            <a:ext cx="4600511" cy="402336"/>
          </a:xfrm>
          <a:prstGeom prst="rect">
            <a:avLst/>
          </a:prstGeom>
          <a:noFill/>
          <a:ln/>
        </p:spPr>
        <p:txBody>
          <a:bodyPr wrap="square" lIns="0" tIns="0" rIns="0" bIns="0" rtlCol="0" anchor="t"/>
          <a:lstStyle/>
          <a:p>
            <a:pPr indent="0" marL="0">
              <a:buNone/>
            </a:pPr>
            <a:r>
              <a:rPr lang="en-US" sz="1600" dirty="0">
                <a:solidFill>
                  <a:srgbClr val="0F2A3F"/>
                </a:solidFill>
                <a:latin typeface="Poppins" pitchFamily="34" charset="0"/>
                <a:ea typeface="Poppins" pitchFamily="34" charset="-122"/>
                <a:cs typeface="Poppins" pitchFamily="34" charset="-120"/>
              </a:rPr>
              <a:t>Salvaged NEMA 17 pushes filament down a PTFE tether</a:t>
            </a:r>
            <a:endParaRPr lang="en-US" sz="1600" dirty="0"/>
          </a:p>
        </p:txBody>
      </p:sp>
      <p:sp>
        <p:nvSpPr>
          <p:cNvPr id="12" name="Shape 10"/>
          <p:cNvSpPr/>
          <p:nvPr/>
        </p:nvSpPr>
        <p:spPr>
          <a:xfrm>
            <a:off x="777240" y="3520440"/>
            <a:ext cx="128016" cy="128016"/>
          </a:xfrm>
          <a:prstGeom prst="roundRect">
            <a:avLst>
              <a:gd name="adj" fmla="val 28000"/>
            </a:avLst>
          </a:prstGeom>
          <a:solidFill>
            <a:srgbClr val="3D90D7"/>
          </a:solidFill>
          <a:ln w="12700">
            <a:solidFill>
              <a:srgbClr val="3D90D7"/>
            </a:solidFill>
            <a:prstDash val="solid"/>
          </a:ln>
        </p:spPr>
      </p:sp>
      <p:sp>
        <p:nvSpPr>
          <p:cNvPr id="13" name="Text 11"/>
          <p:cNvSpPr/>
          <p:nvPr/>
        </p:nvSpPr>
        <p:spPr>
          <a:xfrm>
            <a:off x="1069848" y="3392424"/>
            <a:ext cx="4600511" cy="402336"/>
          </a:xfrm>
          <a:prstGeom prst="rect">
            <a:avLst/>
          </a:prstGeom>
          <a:noFill/>
          <a:ln/>
        </p:spPr>
        <p:txBody>
          <a:bodyPr wrap="square" lIns="0" tIns="0" rIns="0" bIns="0" rtlCol="0" anchor="t"/>
          <a:lstStyle/>
          <a:p>
            <a:pPr indent="0" marL="0">
              <a:buNone/>
            </a:pPr>
            <a:r>
              <a:rPr lang="en-US" sz="1600" dirty="0">
                <a:solidFill>
                  <a:srgbClr val="0F2A3F"/>
                </a:solidFill>
                <a:latin typeface="Poppins" pitchFamily="34" charset="0"/>
                <a:ea typeface="Poppins" pitchFamily="34" charset="-122"/>
                <a:cs typeface="Poppins" pitchFamily="34" charset="-120"/>
              </a:rPr>
              <a:t>The pen carries only the hot end, thermistor and fan</a:t>
            </a:r>
            <a:endParaRPr lang="en-US" sz="1600" dirty="0"/>
          </a:p>
        </p:txBody>
      </p:sp>
      <p:sp>
        <p:nvSpPr>
          <p:cNvPr id="14" name="Shape 12"/>
          <p:cNvSpPr/>
          <p:nvPr/>
        </p:nvSpPr>
        <p:spPr>
          <a:xfrm>
            <a:off x="6521336" y="1691640"/>
            <a:ext cx="4893119" cy="3246120"/>
          </a:xfrm>
          <a:prstGeom prst="roundRect">
            <a:avLst>
              <a:gd name="adj" fmla="val 2254"/>
            </a:avLst>
          </a:prstGeom>
          <a:solidFill>
            <a:srgbClr val="F4F9FD"/>
          </a:solidFill>
          <a:ln w="15875">
            <a:solidFill>
              <a:srgbClr val="3D90D7"/>
            </a:solidFill>
            <a:prstDash val="dash"/>
          </a:ln>
        </p:spPr>
      </p:sp>
      <p:sp>
        <p:nvSpPr>
          <p:cNvPr id="15" name="Shape 13"/>
          <p:cNvSpPr/>
          <p:nvPr/>
        </p:nvSpPr>
        <p:spPr>
          <a:xfrm>
            <a:off x="8867312" y="2839212"/>
            <a:ext cx="201168" cy="201168"/>
          </a:xfrm>
          <a:prstGeom prst="roundRect">
            <a:avLst>
              <a:gd name="adj" fmla="val 27273"/>
            </a:avLst>
          </a:prstGeom>
          <a:solidFill>
            <a:srgbClr val="3D90D7"/>
          </a:solidFill>
          <a:ln w="12700">
            <a:solidFill>
              <a:srgbClr val="3D90D7"/>
            </a:solidFill>
            <a:prstDash val="solid"/>
          </a:ln>
        </p:spPr>
      </p:sp>
      <p:sp>
        <p:nvSpPr>
          <p:cNvPr id="16" name="Text 14"/>
          <p:cNvSpPr/>
          <p:nvPr/>
        </p:nvSpPr>
        <p:spPr>
          <a:xfrm>
            <a:off x="6521336" y="3113532"/>
            <a:ext cx="4893119" cy="219456"/>
          </a:xfrm>
          <a:prstGeom prst="rect">
            <a:avLst/>
          </a:prstGeom>
          <a:noFill/>
          <a:ln/>
        </p:spPr>
        <p:txBody>
          <a:bodyPr wrap="square" lIns="0" tIns="0" rIns="0" bIns="0" rtlCol="0" anchor="ctr"/>
          <a:lstStyle/>
          <a:p>
            <a:pPr algn="ctr" indent="0" marL="0">
              <a:buNone/>
            </a:pPr>
            <a:r>
              <a:rPr lang="en-US" sz="950" b="1" spc="200" kern="0" dirty="0">
                <a:solidFill>
                  <a:srgbClr val="3D90D7"/>
                </a:solidFill>
                <a:latin typeface="Poppins" pitchFamily="34" charset="0"/>
                <a:ea typeface="Poppins" pitchFamily="34" charset="-122"/>
                <a:cs typeface="Poppins" pitchFamily="34" charset="-120"/>
              </a:rPr>
              <a:t>PHOTO</a:t>
            </a:r>
            <a:endParaRPr lang="en-US" sz="950" dirty="0"/>
          </a:p>
        </p:txBody>
      </p:sp>
      <p:sp>
        <p:nvSpPr>
          <p:cNvPr id="17" name="Text 15"/>
          <p:cNvSpPr/>
          <p:nvPr/>
        </p:nvSpPr>
        <p:spPr>
          <a:xfrm>
            <a:off x="6813944" y="3332988"/>
            <a:ext cx="4307903" cy="1348740"/>
          </a:xfrm>
          <a:prstGeom prst="rect">
            <a:avLst/>
          </a:prstGeom>
          <a:noFill/>
          <a:ln/>
        </p:spPr>
        <p:txBody>
          <a:bodyPr wrap="square" lIns="0" tIns="0" rIns="0" bIns="0" rtlCol="0" anchor="t"/>
          <a:lstStyle/>
          <a:p>
            <a:pPr algn="ctr" indent="0" marL="0">
              <a:buNone/>
            </a:pPr>
            <a:r>
              <a:rPr lang="en-US" sz="1100" dirty="0">
                <a:solidFill>
                  <a:srgbClr val="6B8299"/>
                </a:solidFill>
                <a:latin typeface="Poppins" pitchFamily="34" charset="0"/>
                <a:ea typeface="Poppins" pitchFamily="34" charset="-122"/>
                <a:cs typeface="Poppins" pitchFamily="34" charset="-120"/>
              </a:rPr>
              <a:t>The electronics wedge and the pen on a bench, tether connecting them, filament spool visible at the rear inlet, natural daylight</a:t>
            </a:r>
            <a:endParaRPr lang="en-US" sz="1100" dirty="0"/>
          </a:p>
        </p:txBody>
      </p:sp>
      <p:sp>
        <p:nvSpPr>
          <p:cNvPr id="19" name="Text 16"/>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THE PEN</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The barrel is ribbed because the heat has to go somewhere</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sp>
        <p:nvSpPr>
          <p:cNvPr id="6" name="Shape 4"/>
          <p:cNvSpPr/>
          <p:nvPr/>
        </p:nvSpPr>
        <p:spPr>
          <a:xfrm>
            <a:off x="777240" y="1691640"/>
            <a:ext cx="10637215" cy="3703320"/>
          </a:xfrm>
          <a:prstGeom prst="roundRect">
            <a:avLst>
              <a:gd name="adj" fmla="val 1975"/>
            </a:avLst>
          </a:prstGeom>
          <a:solidFill>
            <a:srgbClr val="F4F9FD"/>
          </a:solidFill>
          <a:ln w="15875">
            <a:solidFill>
              <a:srgbClr val="3D90D7"/>
            </a:solidFill>
            <a:prstDash val="dash"/>
          </a:ln>
        </p:spPr>
      </p:sp>
      <p:sp>
        <p:nvSpPr>
          <p:cNvPr id="7" name="Shape 5"/>
          <p:cNvSpPr/>
          <p:nvPr/>
        </p:nvSpPr>
        <p:spPr>
          <a:xfrm>
            <a:off x="5995264" y="3067812"/>
            <a:ext cx="201168" cy="201168"/>
          </a:xfrm>
          <a:prstGeom prst="roundRect">
            <a:avLst>
              <a:gd name="adj" fmla="val 27273"/>
            </a:avLst>
          </a:prstGeom>
          <a:solidFill>
            <a:srgbClr val="3D90D7"/>
          </a:solidFill>
          <a:ln w="12700">
            <a:solidFill>
              <a:srgbClr val="3D90D7"/>
            </a:solidFill>
            <a:prstDash val="solid"/>
          </a:ln>
        </p:spPr>
      </p:sp>
      <p:sp>
        <p:nvSpPr>
          <p:cNvPr id="8" name="Text 6"/>
          <p:cNvSpPr/>
          <p:nvPr/>
        </p:nvSpPr>
        <p:spPr>
          <a:xfrm>
            <a:off x="777240" y="3342132"/>
            <a:ext cx="10637215" cy="219456"/>
          </a:xfrm>
          <a:prstGeom prst="rect">
            <a:avLst/>
          </a:prstGeom>
          <a:noFill/>
          <a:ln/>
        </p:spPr>
        <p:txBody>
          <a:bodyPr wrap="square" lIns="0" tIns="0" rIns="0" bIns="0" rtlCol="0" anchor="ctr"/>
          <a:lstStyle/>
          <a:p>
            <a:pPr algn="ctr" indent="0" marL="0">
              <a:buNone/>
            </a:pPr>
            <a:r>
              <a:rPr lang="en-US" sz="950" b="1" spc="200" kern="0" dirty="0">
                <a:solidFill>
                  <a:srgbClr val="3D90D7"/>
                </a:solidFill>
                <a:latin typeface="Poppins" pitchFamily="34" charset="0"/>
                <a:ea typeface="Poppins" pitchFamily="34" charset="-122"/>
                <a:cs typeface="Poppins" pitchFamily="34" charset="-120"/>
              </a:rPr>
              <a:t>PHOTO</a:t>
            </a:r>
            <a:endParaRPr lang="en-US" sz="950" dirty="0"/>
          </a:p>
        </p:txBody>
      </p:sp>
      <p:sp>
        <p:nvSpPr>
          <p:cNvPr id="9" name="Text 7"/>
          <p:cNvSpPr/>
          <p:nvPr/>
        </p:nvSpPr>
        <p:spPr>
          <a:xfrm>
            <a:off x="1069848" y="3561588"/>
            <a:ext cx="10051999" cy="1577340"/>
          </a:xfrm>
          <a:prstGeom prst="rect">
            <a:avLst/>
          </a:prstGeom>
          <a:noFill/>
          <a:ln/>
        </p:spPr>
        <p:txBody>
          <a:bodyPr wrap="square" lIns="0" tIns="0" rIns="0" bIns="0" rtlCol="0" anchor="t"/>
          <a:lstStyle/>
          <a:p>
            <a:pPr algn="ctr" indent="0" marL="0">
              <a:buNone/>
            </a:pPr>
            <a:r>
              <a:rPr lang="en-US" sz="1100" dirty="0">
                <a:solidFill>
                  <a:srgbClr val="6B8299"/>
                </a:solidFill>
                <a:latin typeface="Poppins" pitchFamily="34" charset="0"/>
                <a:ea typeface="Poppins" pitchFamily="34" charset="-122"/>
                <a:cs typeface="Poppins" pitchFamily="34" charset="-120"/>
              </a:rPr>
              <a:t>Close-up of the pen barrel and hot end vent, held in hand, shallow depth of field, grey rPET surface texture visible</a:t>
            </a:r>
            <a:endParaRPr lang="en-US" sz="1100" dirty="0"/>
          </a:p>
        </p:txBody>
      </p:sp>
      <p:sp>
        <p:nvSpPr>
          <p:cNvPr id="10" name="Text 8"/>
          <p:cNvSpPr/>
          <p:nvPr/>
        </p:nvSpPr>
        <p:spPr>
          <a:xfrm>
            <a:off x="777240" y="5486400"/>
            <a:ext cx="10637215" cy="310896"/>
          </a:xfrm>
          <a:prstGeom prst="rect">
            <a:avLst/>
          </a:prstGeom>
          <a:noFill/>
          <a:ln/>
        </p:spPr>
        <p:txBody>
          <a:bodyPr wrap="square" lIns="0" tIns="0" rIns="0" bIns="0" rtlCol="0" anchor="ctr"/>
          <a:lstStyle/>
          <a:p>
            <a:pPr indent="0" marL="0">
              <a:buNone/>
            </a:pPr>
            <a:r>
              <a:rPr lang="en-US" sz="1100" dirty="0">
                <a:solidFill>
                  <a:srgbClr val="6B8299"/>
                </a:solidFill>
                <a:latin typeface="Poppins" pitchFamily="34" charset="0"/>
                <a:ea typeface="Poppins" pitchFamily="34" charset="-122"/>
                <a:cs typeface="Poppins" pitchFamily="34" charset="-120"/>
              </a:rPr>
              <a:t>No printed plastic touches the heat break. The wall stands off with an air gap.</a:t>
            </a:r>
            <a:endParaRPr lang="en-US" sz="1100" dirty="0"/>
          </a:p>
        </p:txBody>
      </p:sp>
      <p:sp>
        <p:nvSpPr>
          <p:cNvPr id="12" name="Text 9"/>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PRINT IT YOURSELF</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Seven printed parts, and the two frame bodies are most of the print</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graphicFrame>
        <p:nvGraphicFramePr>
          <p:cNvPr id="6" name="Chart 0" descr=""/>
          <p:cNvGraphicFramePr/>
          <p:nvPr/>
        </p:nvGraphicFramePr>
        <p:xfrm>
          <a:off x="777240" y="1691640"/>
          <a:ext cx="10637215" cy="37947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77240" y="5596128"/>
            <a:ext cx="8297028" cy="384048"/>
          </a:xfrm>
          <a:prstGeom prst="rect">
            <a:avLst/>
          </a:prstGeom>
          <a:noFill/>
          <a:ln/>
        </p:spPr>
        <p:txBody>
          <a:bodyPr wrap="square" lIns="0" tIns="0" rIns="0" bIns="0" rtlCol="0" anchor="ctr"/>
          <a:lstStyle/>
          <a:p>
            <a:pPr indent="0" marL="0">
              <a:buNone/>
            </a:pPr>
            <a:r>
              <a:rPr lang="en-US" sz="1250" b="1" dirty="0">
                <a:solidFill>
                  <a:srgbClr val="3D90D7"/>
                </a:solidFill>
                <a:latin typeface="Poppins" pitchFamily="34" charset="0"/>
                <a:ea typeface="Poppins" pitchFamily="34" charset="-122"/>
                <a:cs typeface="Poppins" pitchFamily="34" charset="-120"/>
              </a:rPr>
              <a:t>73.97 g of recycled PET, about 7,400 XAF (~$12) of material, and the two frame bodies are 94 percent of it.</a:t>
            </a:r>
            <a:endParaRPr lang="en-US" sz="1250" dirty="0"/>
          </a:p>
        </p:txBody>
      </p:sp>
      <p:sp>
        <p:nvSpPr>
          <p:cNvPr id="8" name="Text 5"/>
          <p:cNvSpPr/>
          <p:nvPr/>
        </p:nvSpPr>
        <p:spPr>
          <a:xfrm>
            <a:off x="777240" y="5980176"/>
            <a:ext cx="10637215" cy="274320"/>
          </a:xfrm>
          <a:prstGeom prst="rect">
            <a:avLst/>
          </a:prstGeom>
          <a:noFill/>
          <a:ln/>
        </p:spPr>
        <p:txBody>
          <a:bodyPr wrap="square" lIns="0" tIns="0" rIns="0" bIns="0" rtlCol="0" anchor="ctr"/>
          <a:lstStyle/>
          <a:p>
            <a:pPr indent="0" marL="0">
              <a:buNone/>
            </a:pPr>
            <a:r>
              <a:rPr lang="en-US" sz="1050" i="1" dirty="0">
                <a:solidFill>
                  <a:srgbClr val="6B8299"/>
                </a:solidFill>
                <a:latin typeface="Poppins" pitchFamily="34" charset="0"/>
                <a:ea typeface="Poppins" pitchFamily="34" charset="-122"/>
                <a:cs typeface="Poppins" pitchFamily="34" charset="-120"/>
              </a:rPr>
              <a:t>Source: FlowForge print schedule, section 5</a:t>
            </a:r>
            <a:endParaRPr lang="en-US" sz="1050" dirty="0"/>
          </a:p>
        </p:txBody>
      </p:sp>
      <p:sp>
        <p:nvSpPr>
          <p:cNvPr id="10" name="Text 6"/>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SAFETY</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A 260 degree heater in a hand-held object gets three independent ways to shut itself down</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sp>
        <p:nvSpPr>
          <p:cNvPr id="6" name="Shape 4"/>
          <p:cNvSpPr/>
          <p:nvPr/>
        </p:nvSpPr>
        <p:spPr>
          <a:xfrm>
            <a:off x="777240" y="1691640"/>
            <a:ext cx="3326282" cy="2834640"/>
          </a:xfrm>
          <a:prstGeom prst="roundRect">
            <a:avLst>
              <a:gd name="adj" fmla="val 3871"/>
            </a:avLst>
          </a:prstGeom>
          <a:solidFill>
            <a:srgbClr val="F4F9FD"/>
          </a:solidFill>
          <a:ln w="12700">
            <a:solidFill>
              <a:srgbClr val="DCE7F0"/>
            </a:solidFill>
            <a:prstDash val="solid"/>
          </a:ln>
        </p:spPr>
      </p:sp>
      <p:sp>
        <p:nvSpPr>
          <p:cNvPr id="7" name="Shape 5"/>
          <p:cNvSpPr/>
          <p:nvPr/>
        </p:nvSpPr>
        <p:spPr>
          <a:xfrm>
            <a:off x="1051560" y="1965960"/>
            <a:ext cx="182880" cy="182880"/>
          </a:xfrm>
          <a:prstGeom prst="roundRect">
            <a:avLst>
              <a:gd name="adj" fmla="val 28000"/>
            </a:avLst>
          </a:prstGeom>
          <a:solidFill>
            <a:srgbClr val="3D90D7"/>
          </a:solidFill>
          <a:ln w="12700">
            <a:solidFill>
              <a:srgbClr val="3D90D7"/>
            </a:solidFill>
            <a:prstDash val="solid"/>
          </a:ln>
        </p:spPr>
      </p:sp>
      <p:sp>
        <p:nvSpPr>
          <p:cNvPr id="8" name="Text 6"/>
          <p:cNvSpPr/>
          <p:nvPr/>
        </p:nvSpPr>
        <p:spPr>
          <a:xfrm>
            <a:off x="1051560" y="2258568"/>
            <a:ext cx="2777642"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Sensor sanity band</a:t>
            </a:r>
            <a:endParaRPr lang="en-US" sz="1600" dirty="0"/>
          </a:p>
        </p:txBody>
      </p:sp>
      <p:sp>
        <p:nvSpPr>
          <p:cNvPr id="9" name="Text 7"/>
          <p:cNvSpPr/>
          <p:nvPr/>
        </p:nvSpPr>
        <p:spPr>
          <a:xfrm>
            <a:off x="1051560" y="2642616"/>
            <a:ext cx="2777642" cy="1645920"/>
          </a:xfrm>
          <a:prstGeom prst="rect">
            <a:avLst/>
          </a:prstGeom>
          <a:noFill/>
          <a:ln/>
        </p:spPr>
        <p:txBody>
          <a:bodyPr wrap="square" lIns="0" tIns="0" rIns="0" bIns="0" rtlCol="0" anchor="t"/>
          <a:lstStyle/>
          <a:p>
            <a:pPr indent="0" marL="0">
              <a:buNone/>
            </a:pPr>
            <a:r>
              <a:rPr lang="en-US" sz="1400" dirty="0">
                <a:solidFill>
                  <a:srgbClr val="6B8299"/>
                </a:solidFill>
                <a:latin typeface="Poppins" pitchFamily="34" charset="0"/>
                <a:ea typeface="Poppins" pitchFamily="34" charset="-122"/>
                <a:cs typeface="Poppins" pitchFamily="34" charset="-120"/>
              </a:rPr>
              <a:t>A reading below 5 or above 300 degrees means the thermistor is wrong. Heater off.</a:t>
            </a:r>
            <a:endParaRPr lang="en-US" sz="1400" dirty="0"/>
          </a:p>
        </p:txBody>
      </p:sp>
      <p:sp>
        <p:nvSpPr>
          <p:cNvPr id="10" name="Shape 8"/>
          <p:cNvSpPr/>
          <p:nvPr/>
        </p:nvSpPr>
        <p:spPr>
          <a:xfrm>
            <a:off x="4432706" y="1691640"/>
            <a:ext cx="3326282" cy="2834640"/>
          </a:xfrm>
          <a:prstGeom prst="roundRect">
            <a:avLst>
              <a:gd name="adj" fmla="val 3871"/>
            </a:avLst>
          </a:prstGeom>
          <a:solidFill>
            <a:srgbClr val="F4F9FD"/>
          </a:solidFill>
          <a:ln w="12700">
            <a:solidFill>
              <a:srgbClr val="DCE7F0"/>
            </a:solidFill>
            <a:prstDash val="solid"/>
          </a:ln>
        </p:spPr>
      </p:sp>
      <p:sp>
        <p:nvSpPr>
          <p:cNvPr id="11" name="Shape 9"/>
          <p:cNvSpPr/>
          <p:nvPr/>
        </p:nvSpPr>
        <p:spPr>
          <a:xfrm>
            <a:off x="4707026" y="1965960"/>
            <a:ext cx="182880" cy="182880"/>
          </a:xfrm>
          <a:prstGeom prst="roundRect">
            <a:avLst>
              <a:gd name="adj" fmla="val 28000"/>
            </a:avLst>
          </a:prstGeom>
          <a:solidFill>
            <a:srgbClr val="3D90D7"/>
          </a:solidFill>
          <a:ln w="12700">
            <a:solidFill>
              <a:srgbClr val="3D90D7"/>
            </a:solidFill>
            <a:prstDash val="solid"/>
          </a:ln>
        </p:spPr>
      </p:sp>
      <p:sp>
        <p:nvSpPr>
          <p:cNvPr id="12" name="Text 10"/>
          <p:cNvSpPr/>
          <p:nvPr/>
        </p:nvSpPr>
        <p:spPr>
          <a:xfrm>
            <a:off x="4707026" y="2258568"/>
            <a:ext cx="2777642"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Hard ceiling</a:t>
            </a:r>
            <a:endParaRPr lang="en-US" sz="1600" dirty="0"/>
          </a:p>
        </p:txBody>
      </p:sp>
      <p:sp>
        <p:nvSpPr>
          <p:cNvPr id="13" name="Text 11"/>
          <p:cNvSpPr/>
          <p:nvPr/>
        </p:nvSpPr>
        <p:spPr>
          <a:xfrm>
            <a:off x="4707026" y="2642616"/>
            <a:ext cx="2777642" cy="1645920"/>
          </a:xfrm>
          <a:prstGeom prst="rect">
            <a:avLst/>
          </a:prstGeom>
          <a:noFill/>
          <a:ln/>
        </p:spPr>
        <p:txBody>
          <a:bodyPr wrap="square" lIns="0" tIns="0" rIns="0" bIns="0" rtlCol="0" anchor="t"/>
          <a:lstStyle/>
          <a:p>
            <a:pPr indent="0" marL="0">
              <a:buNone/>
            </a:pPr>
            <a:r>
              <a:rPr lang="en-US" sz="1400" dirty="0">
                <a:solidFill>
                  <a:srgbClr val="6B8299"/>
                </a:solidFill>
                <a:latin typeface="Poppins" pitchFamily="34" charset="0"/>
                <a:ea typeface="Poppins" pitchFamily="34" charset="-122"/>
                <a:cs typeface="Poppins" pitchFamily="34" charset="-120"/>
              </a:rPr>
              <a:t>260 degrees is the ceiling. Past it the heater cuts and the fault latches.</a:t>
            </a:r>
            <a:endParaRPr lang="en-US" sz="1400" dirty="0"/>
          </a:p>
        </p:txBody>
      </p:sp>
      <p:sp>
        <p:nvSpPr>
          <p:cNvPr id="14" name="Shape 12"/>
          <p:cNvSpPr/>
          <p:nvPr/>
        </p:nvSpPr>
        <p:spPr>
          <a:xfrm>
            <a:off x="8088173" y="1691640"/>
            <a:ext cx="3326282" cy="2834640"/>
          </a:xfrm>
          <a:prstGeom prst="roundRect">
            <a:avLst>
              <a:gd name="adj" fmla="val 3871"/>
            </a:avLst>
          </a:prstGeom>
          <a:solidFill>
            <a:srgbClr val="F4F9FD"/>
          </a:solidFill>
          <a:ln w="12700">
            <a:solidFill>
              <a:srgbClr val="DCE7F0"/>
            </a:solidFill>
            <a:prstDash val="solid"/>
          </a:ln>
        </p:spPr>
      </p:sp>
      <p:sp>
        <p:nvSpPr>
          <p:cNvPr id="15" name="Shape 13"/>
          <p:cNvSpPr/>
          <p:nvPr/>
        </p:nvSpPr>
        <p:spPr>
          <a:xfrm>
            <a:off x="8362493" y="1965960"/>
            <a:ext cx="182880" cy="182880"/>
          </a:xfrm>
          <a:prstGeom prst="roundRect">
            <a:avLst>
              <a:gd name="adj" fmla="val 28000"/>
            </a:avLst>
          </a:prstGeom>
          <a:solidFill>
            <a:srgbClr val="3D90D7"/>
          </a:solidFill>
          <a:ln w="12700">
            <a:solidFill>
              <a:srgbClr val="3D90D7"/>
            </a:solidFill>
            <a:prstDash val="solid"/>
          </a:ln>
        </p:spPr>
      </p:sp>
      <p:sp>
        <p:nvSpPr>
          <p:cNvPr id="16" name="Text 14"/>
          <p:cNvSpPr/>
          <p:nvPr/>
        </p:nvSpPr>
        <p:spPr>
          <a:xfrm>
            <a:off x="8362493" y="2258568"/>
            <a:ext cx="2777642"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Runaway watchdog</a:t>
            </a:r>
            <a:endParaRPr lang="en-US" sz="1600" dirty="0"/>
          </a:p>
        </p:txBody>
      </p:sp>
      <p:sp>
        <p:nvSpPr>
          <p:cNvPr id="17" name="Text 15"/>
          <p:cNvSpPr/>
          <p:nvPr/>
        </p:nvSpPr>
        <p:spPr>
          <a:xfrm>
            <a:off x="8362493" y="2642616"/>
            <a:ext cx="2777642" cy="1645920"/>
          </a:xfrm>
          <a:prstGeom prst="rect">
            <a:avLst/>
          </a:prstGeom>
          <a:noFill/>
          <a:ln/>
        </p:spPr>
        <p:txBody>
          <a:bodyPr wrap="square" lIns="0" tIns="0" rIns="0" bIns="0" rtlCol="0" anchor="t"/>
          <a:lstStyle/>
          <a:p>
            <a:pPr indent="0" marL="0">
              <a:buNone/>
            </a:pPr>
            <a:r>
              <a:rPr lang="en-US" sz="1400" dirty="0">
                <a:solidFill>
                  <a:srgbClr val="6B8299"/>
                </a:solidFill>
                <a:latin typeface="Poppins" pitchFamily="34" charset="0"/>
                <a:ea typeface="Poppins" pitchFamily="34" charset="-122"/>
                <a:cs typeface="Poppins" pitchFamily="34" charset="-120"/>
              </a:rPr>
              <a:t>Heating hard for 20 seconds without climbing means something is broken.</a:t>
            </a:r>
            <a:endParaRPr lang="en-US" sz="1400" dirty="0"/>
          </a:p>
        </p:txBody>
      </p:sp>
      <p:sp>
        <p:nvSpPr>
          <p:cNvPr id="19" name="Text 16"/>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HONEST PART</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Bottle PET is not a drop-in filament, and we are not going to pretend it is</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sp>
        <p:nvSpPr>
          <p:cNvPr id="6" name="Shape 4"/>
          <p:cNvSpPr/>
          <p:nvPr/>
        </p:nvSpPr>
        <p:spPr>
          <a:xfrm>
            <a:off x="777240" y="1819656"/>
            <a:ext cx="128016" cy="128016"/>
          </a:xfrm>
          <a:prstGeom prst="roundRect">
            <a:avLst>
              <a:gd name="adj" fmla="val 28000"/>
            </a:avLst>
          </a:prstGeom>
          <a:solidFill>
            <a:srgbClr val="3D90D7"/>
          </a:solidFill>
          <a:ln w="12700">
            <a:solidFill>
              <a:srgbClr val="3D90D7"/>
            </a:solidFill>
            <a:prstDash val="solid"/>
          </a:ln>
        </p:spPr>
      </p:sp>
      <p:sp>
        <p:nvSpPr>
          <p:cNvPr id="7" name="Text 5"/>
          <p:cNvSpPr/>
          <p:nvPr/>
        </p:nvSpPr>
        <p:spPr>
          <a:xfrm>
            <a:off x="1088136" y="1691640"/>
            <a:ext cx="10326319"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It drinks water out of the air</a:t>
            </a:r>
            <a:endParaRPr lang="en-US" sz="1600" dirty="0"/>
          </a:p>
        </p:txBody>
      </p:sp>
      <p:sp>
        <p:nvSpPr>
          <p:cNvPr id="8" name="Text 6"/>
          <p:cNvSpPr/>
          <p:nvPr/>
        </p:nvSpPr>
        <p:spPr>
          <a:xfrm>
            <a:off x="1088136" y="2075688"/>
            <a:ext cx="10326319" cy="365760"/>
          </a:xfrm>
          <a:prstGeom prst="rect">
            <a:avLst/>
          </a:prstGeom>
          <a:noFill/>
          <a:ln/>
        </p:spPr>
        <p:txBody>
          <a:bodyPr wrap="square" lIns="0" tIns="0" rIns="0" bIns="0" rtlCol="0" anchor="t"/>
          <a:lstStyle/>
          <a:p>
            <a:pPr indent="0" marL="0">
              <a:buNone/>
            </a:pPr>
            <a:r>
              <a:rPr lang="en-US" sz="1250" dirty="0">
                <a:solidFill>
                  <a:srgbClr val="6B8299"/>
                </a:solidFill>
                <a:latin typeface="Poppins" pitchFamily="34" charset="0"/>
                <a:ea typeface="Poppins" pitchFamily="34" charset="-122"/>
                <a:cs typeface="Poppins" pitchFamily="34" charset="-120"/>
              </a:rPr>
              <a:t>Dry at 65 degrees, 4 hours minimum. Wet again within hours.</a:t>
            </a:r>
            <a:endParaRPr lang="en-US" sz="1250" dirty="0"/>
          </a:p>
        </p:txBody>
      </p:sp>
      <p:sp>
        <p:nvSpPr>
          <p:cNvPr id="9" name="Shape 7"/>
          <p:cNvSpPr/>
          <p:nvPr/>
        </p:nvSpPr>
        <p:spPr>
          <a:xfrm>
            <a:off x="777240" y="2825496"/>
            <a:ext cx="128016" cy="128016"/>
          </a:xfrm>
          <a:prstGeom prst="roundRect">
            <a:avLst>
              <a:gd name="adj" fmla="val 28000"/>
            </a:avLst>
          </a:prstGeom>
          <a:solidFill>
            <a:srgbClr val="3D90D7"/>
          </a:solidFill>
          <a:ln w="12700">
            <a:solidFill>
              <a:srgbClr val="3D90D7"/>
            </a:solidFill>
            <a:prstDash val="solid"/>
          </a:ln>
        </p:spPr>
      </p:sp>
      <p:sp>
        <p:nvSpPr>
          <p:cNvPr id="10" name="Text 8"/>
          <p:cNvSpPr/>
          <p:nvPr/>
        </p:nvSpPr>
        <p:spPr>
          <a:xfrm>
            <a:off x="1088136" y="2697480"/>
            <a:ext cx="10326319"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Diameter wanders</a:t>
            </a:r>
            <a:endParaRPr lang="en-US" sz="1600" dirty="0"/>
          </a:p>
        </p:txBody>
      </p:sp>
      <p:sp>
        <p:nvSpPr>
          <p:cNvPr id="11" name="Text 9"/>
          <p:cNvSpPr/>
          <p:nvPr/>
        </p:nvSpPr>
        <p:spPr>
          <a:xfrm>
            <a:off x="1088136" y="3081528"/>
            <a:ext cx="10326319" cy="365760"/>
          </a:xfrm>
          <a:prstGeom prst="rect">
            <a:avLst/>
          </a:prstGeom>
          <a:noFill/>
          <a:ln/>
        </p:spPr>
        <p:txBody>
          <a:bodyPr wrap="square" lIns="0" tIns="0" rIns="0" bIns="0" rtlCol="0" anchor="t"/>
          <a:lstStyle/>
          <a:p>
            <a:pPr indent="0" marL="0">
              <a:buNone/>
            </a:pPr>
            <a:r>
              <a:rPr lang="en-US" sz="1250" dirty="0">
                <a:solidFill>
                  <a:srgbClr val="6B8299"/>
                </a:solidFill>
                <a:latin typeface="Poppins" pitchFamily="34" charset="0"/>
                <a:ea typeface="Poppins" pitchFamily="34" charset="-122"/>
                <a:cs typeface="Poppins" pitchFamily="34" charset="-120"/>
              </a:rPr>
              <a:t>Strip-cut filament inherits every wobble in the bottle wall.</a:t>
            </a:r>
            <a:endParaRPr lang="en-US" sz="1250" dirty="0"/>
          </a:p>
        </p:txBody>
      </p:sp>
      <p:sp>
        <p:nvSpPr>
          <p:cNvPr id="12" name="Shape 10"/>
          <p:cNvSpPr/>
          <p:nvPr/>
        </p:nvSpPr>
        <p:spPr>
          <a:xfrm>
            <a:off x="777240" y="3831336"/>
            <a:ext cx="128016" cy="128016"/>
          </a:xfrm>
          <a:prstGeom prst="roundRect">
            <a:avLst>
              <a:gd name="adj" fmla="val 28000"/>
            </a:avLst>
          </a:prstGeom>
          <a:solidFill>
            <a:srgbClr val="3D90D7"/>
          </a:solidFill>
          <a:ln w="12700">
            <a:solidFill>
              <a:srgbClr val="3D90D7"/>
            </a:solidFill>
            <a:prstDash val="solid"/>
          </a:ln>
        </p:spPr>
      </p:sp>
      <p:sp>
        <p:nvSpPr>
          <p:cNvPr id="13" name="Text 11"/>
          <p:cNvSpPr/>
          <p:nvPr/>
        </p:nvSpPr>
        <p:spPr>
          <a:xfrm>
            <a:off x="1088136" y="3703320"/>
            <a:ext cx="10326319"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It is stiffer than PETG</a:t>
            </a:r>
            <a:endParaRPr lang="en-US" sz="1600" dirty="0"/>
          </a:p>
        </p:txBody>
      </p:sp>
      <p:sp>
        <p:nvSpPr>
          <p:cNvPr id="14" name="Text 12"/>
          <p:cNvSpPr/>
          <p:nvPr/>
        </p:nvSpPr>
        <p:spPr>
          <a:xfrm>
            <a:off x="1088136" y="4087368"/>
            <a:ext cx="10326319" cy="365760"/>
          </a:xfrm>
          <a:prstGeom prst="rect">
            <a:avLst/>
          </a:prstGeom>
          <a:noFill/>
          <a:ln/>
        </p:spPr>
        <p:txBody>
          <a:bodyPr wrap="square" lIns="0" tIns="0" rIns="0" bIns="0" rtlCol="0" anchor="t"/>
          <a:lstStyle/>
          <a:p>
            <a:pPr indent="0" marL="0">
              <a:buNone/>
            </a:pPr>
            <a:r>
              <a:rPr lang="en-US" sz="1250" dirty="0">
                <a:solidFill>
                  <a:srgbClr val="6B8299"/>
                </a:solidFill>
                <a:latin typeface="Poppins" pitchFamily="34" charset="0"/>
                <a:ea typeface="Poppins" pitchFamily="34" charset="-122"/>
                <a:cs typeface="Poppins" pitchFamily="34" charset="-120"/>
              </a:rPr>
              <a:t>Bottle PET crystallises more, so it snaps in the guide tube.</a:t>
            </a:r>
            <a:endParaRPr lang="en-US" sz="1250" dirty="0"/>
          </a:p>
        </p:txBody>
      </p:sp>
      <p:sp>
        <p:nvSpPr>
          <p:cNvPr id="15" name="Shape 13"/>
          <p:cNvSpPr/>
          <p:nvPr/>
        </p:nvSpPr>
        <p:spPr>
          <a:xfrm>
            <a:off x="777240" y="4837176"/>
            <a:ext cx="128016" cy="128016"/>
          </a:xfrm>
          <a:prstGeom prst="roundRect">
            <a:avLst>
              <a:gd name="adj" fmla="val 28000"/>
            </a:avLst>
          </a:prstGeom>
          <a:solidFill>
            <a:srgbClr val="3D90D7"/>
          </a:solidFill>
          <a:ln w="12700">
            <a:solidFill>
              <a:srgbClr val="3D90D7"/>
            </a:solidFill>
            <a:prstDash val="solid"/>
          </a:ln>
        </p:spPr>
      </p:sp>
      <p:sp>
        <p:nvSpPr>
          <p:cNvPr id="16" name="Text 14"/>
          <p:cNvSpPr/>
          <p:nvPr/>
        </p:nvSpPr>
        <p:spPr>
          <a:xfrm>
            <a:off x="1088136" y="4709160"/>
            <a:ext cx="10326319" cy="365760"/>
          </a:xfrm>
          <a:prstGeom prst="rect">
            <a:avLst/>
          </a:prstGeom>
          <a:noFill/>
          <a:ln/>
        </p:spPr>
        <p:txBody>
          <a:bodyPr wrap="square" lIns="0" tIns="0" rIns="0" bIns="0" rtlCol="0" anchor="t"/>
          <a:lstStyle/>
          <a:p>
            <a:pPr indent="0" marL="0">
              <a:buNone/>
            </a:pPr>
            <a:r>
              <a:rPr lang="en-US" sz="1600" b="1" dirty="0">
                <a:solidFill>
                  <a:srgbClr val="0F2A3F"/>
                </a:solidFill>
                <a:latin typeface="Poppins" pitchFamily="34" charset="0"/>
                <a:ea typeface="Poppins" pitchFamily="34" charset="-122"/>
                <a:cs typeface="Poppins" pitchFamily="34" charset="-120"/>
              </a:rPr>
              <a:t>The fix is process</a:t>
            </a:r>
            <a:endParaRPr lang="en-US" sz="1600" dirty="0"/>
          </a:p>
        </p:txBody>
      </p:sp>
      <p:sp>
        <p:nvSpPr>
          <p:cNvPr id="17" name="Text 15"/>
          <p:cNvSpPr/>
          <p:nvPr/>
        </p:nvSpPr>
        <p:spPr>
          <a:xfrm>
            <a:off x="1088136" y="5093208"/>
            <a:ext cx="10326319" cy="365760"/>
          </a:xfrm>
          <a:prstGeom prst="rect">
            <a:avLst/>
          </a:prstGeom>
          <a:noFill/>
          <a:ln/>
        </p:spPr>
        <p:txBody>
          <a:bodyPr wrap="square" lIns="0" tIns="0" rIns="0" bIns="0" rtlCol="0" anchor="t"/>
          <a:lstStyle/>
          <a:p>
            <a:pPr indent="0" marL="0">
              <a:buNone/>
            </a:pPr>
            <a:r>
              <a:rPr lang="en-US" sz="1250" dirty="0">
                <a:solidFill>
                  <a:srgbClr val="6B8299"/>
                </a:solidFill>
                <a:latin typeface="Poppins" pitchFamily="34" charset="0"/>
                <a:ea typeface="Poppins" pitchFamily="34" charset="-122"/>
                <a:cs typeface="Poppins" pitchFamily="34" charset="-120"/>
              </a:rPr>
              <a:t>Wash, dry, draw, dry again, gauge before loading.</a:t>
            </a:r>
            <a:endParaRPr lang="en-US" sz="1250" dirty="0"/>
          </a:p>
        </p:txBody>
      </p:sp>
      <p:sp>
        <p:nvSpPr>
          <p:cNvPr id="19" name="Text 16"/>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17220"/>
            <a:ext cx="118872" cy="118872"/>
          </a:xfrm>
          <a:prstGeom prst="roundRect">
            <a:avLst>
              <a:gd name="adj" fmla="val 28000"/>
            </a:avLst>
          </a:prstGeom>
          <a:solidFill>
            <a:srgbClr val="3D90D7"/>
          </a:solidFill>
          <a:ln w="12700">
            <a:solidFill>
              <a:srgbClr val="3D90D7"/>
            </a:solidFill>
            <a:prstDash val="solid"/>
          </a:ln>
        </p:spPr>
      </p:sp>
      <p:sp>
        <p:nvSpPr>
          <p:cNvPr id="3"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3D90D7"/>
                </a:solidFill>
                <a:latin typeface="Poppins" pitchFamily="34" charset="0"/>
                <a:ea typeface="Poppins" pitchFamily="34" charset="-122"/>
                <a:cs typeface="Poppins" pitchFamily="34" charset="-120"/>
              </a:rPr>
              <a:t>ROADMAP</a:t>
            </a:r>
            <a:endParaRPr lang="en-US" sz="1100" dirty="0"/>
          </a:p>
        </p:txBody>
      </p:sp>
      <p:sp>
        <p:nvSpPr>
          <p:cNvPr id="4" name="Text 2"/>
          <p:cNvSpPr/>
          <p:nvPr/>
        </p:nvSpPr>
        <p:spPr>
          <a:xfrm>
            <a:off x="777240" y="914400"/>
            <a:ext cx="10637215" cy="658368"/>
          </a:xfrm>
          <a:prstGeom prst="rect">
            <a:avLst/>
          </a:prstGeom>
          <a:noFill/>
          <a:ln/>
        </p:spPr>
        <p:txBody>
          <a:bodyPr wrap="square" lIns="0" tIns="0" rIns="0" bIns="0" rtlCol="0" anchor="t"/>
          <a:lstStyle/>
          <a:p>
            <a:pPr indent="0" marL="0">
              <a:buNone/>
            </a:pPr>
            <a:r>
              <a:rPr lang="en-US" sz="2800" b="1" dirty="0">
                <a:solidFill>
                  <a:srgbClr val="0F2A3F"/>
                </a:solidFill>
                <a:latin typeface="Poppins" pitchFamily="34" charset="0"/>
                <a:ea typeface="Poppins" pitchFamily="34" charset="-122"/>
                <a:cs typeface="Poppins" pitchFamily="34" charset="-120"/>
              </a:rPr>
              <a:t>Where FlowForge goes next</a:t>
            </a:r>
            <a:endParaRPr lang="en-US" sz="2800" dirty="0"/>
          </a:p>
        </p:txBody>
      </p:sp>
      <p:sp>
        <p:nvSpPr>
          <p:cNvPr id="5" name="Shape 3"/>
          <p:cNvSpPr/>
          <p:nvPr/>
        </p:nvSpPr>
        <p:spPr>
          <a:xfrm>
            <a:off x="777240" y="1517904"/>
            <a:ext cx="566928" cy="41148"/>
          </a:xfrm>
          <a:prstGeom prst="rect">
            <a:avLst/>
          </a:prstGeom>
          <a:solidFill>
            <a:srgbClr val="B5FCCD"/>
          </a:solidFill>
          <a:ln w="12700">
            <a:solidFill>
              <a:srgbClr val="333333"/>
            </a:solidFill>
            <a:prstDash val="solid"/>
          </a:ln>
        </p:spPr>
      </p:sp>
      <p:sp>
        <p:nvSpPr>
          <p:cNvPr id="6" name="Shape 4"/>
          <p:cNvSpPr/>
          <p:nvPr/>
        </p:nvSpPr>
        <p:spPr>
          <a:xfrm>
            <a:off x="777240" y="2432304"/>
            <a:ext cx="10637215" cy="36576"/>
          </a:xfrm>
          <a:prstGeom prst="rect">
            <a:avLst/>
          </a:prstGeom>
          <a:solidFill>
            <a:srgbClr val="DCE7F0"/>
          </a:solidFill>
          <a:ln w="12700">
            <a:solidFill>
              <a:srgbClr val="333333"/>
            </a:solidFill>
            <a:prstDash val="solid"/>
          </a:ln>
        </p:spPr>
      </p:sp>
      <p:sp>
        <p:nvSpPr>
          <p:cNvPr id="7" name="Shape 5"/>
          <p:cNvSpPr/>
          <p:nvPr/>
        </p:nvSpPr>
        <p:spPr>
          <a:xfrm>
            <a:off x="777240" y="2212848"/>
            <a:ext cx="475488" cy="475488"/>
          </a:xfrm>
          <a:prstGeom prst="roundRect">
            <a:avLst>
              <a:gd name="adj" fmla="val 19231"/>
            </a:avLst>
          </a:prstGeom>
          <a:solidFill>
            <a:srgbClr val="3D90D7"/>
          </a:solidFill>
          <a:ln w="12700">
            <a:solidFill>
              <a:srgbClr val="333333"/>
            </a:solidFill>
            <a:prstDash val="solid"/>
          </a:ln>
        </p:spPr>
      </p:sp>
      <p:sp>
        <p:nvSpPr>
          <p:cNvPr id="8" name="Text 6"/>
          <p:cNvSpPr/>
          <p:nvPr/>
        </p:nvSpPr>
        <p:spPr>
          <a:xfrm>
            <a:off x="777240" y="22128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9" name="Text 7"/>
          <p:cNvSpPr/>
          <p:nvPr/>
        </p:nvSpPr>
        <p:spPr>
          <a:xfrm>
            <a:off x="777240" y="2889504"/>
            <a:ext cx="2453564" cy="402336"/>
          </a:xfrm>
          <a:prstGeom prst="rect">
            <a:avLst/>
          </a:prstGeom>
          <a:noFill/>
          <a:ln/>
        </p:spPr>
        <p:txBody>
          <a:bodyPr wrap="square" lIns="0" tIns="0" rIns="0" bIns="0" rtlCol="0" anchor="t"/>
          <a:lstStyle/>
          <a:p>
            <a:pPr indent="0" marL="0">
              <a:buNone/>
            </a:pPr>
            <a:r>
              <a:rPr lang="en-US" sz="1500" b="1" dirty="0">
                <a:solidFill>
                  <a:srgbClr val="0F2A3F"/>
                </a:solidFill>
                <a:latin typeface="Poppins" pitchFamily="34" charset="0"/>
                <a:ea typeface="Poppins" pitchFamily="34" charset="-122"/>
                <a:cs typeface="Poppins" pitchFamily="34" charset="-120"/>
              </a:rPr>
              <a:t>V1, now</a:t>
            </a:r>
            <a:endParaRPr lang="en-US" sz="1500" dirty="0"/>
          </a:p>
        </p:txBody>
      </p:sp>
      <p:sp>
        <p:nvSpPr>
          <p:cNvPr id="10" name="Text 8"/>
          <p:cNvSpPr/>
          <p:nvPr/>
        </p:nvSpPr>
        <p:spPr>
          <a:xfrm>
            <a:off x="777240" y="3310128"/>
            <a:ext cx="2453564" cy="1371600"/>
          </a:xfrm>
          <a:prstGeom prst="rect">
            <a:avLst/>
          </a:prstGeom>
          <a:noFill/>
          <a:ln/>
        </p:spPr>
        <p:txBody>
          <a:bodyPr wrap="square" lIns="0" tIns="0" rIns="0" bIns="0" rtlCol="0" anchor="t"/>
          <a:lstStyle/>
          <a:p>
            <a:pPr indent="0" marL="0">
              <a:buNone/>
            </a:pPr>
            <a:r>
              <a:rPr lang="en-US" sz="1200" dirty="0">
                <a:solidFill>
                  <a:srgbClr val="6B8299"/>
                </a:solidFill>
                <a:latin typeface="Poppins" pitchFamily="34" charset="0"/>
                <a:ea typeface="Poppins" pitchFamily="34" charset="-122"/>
                <a:cs typeface="Poppins" pitchFamily="34" charset="-120"/>
              </a:rPr>
              <a:t>Tethered pen, salvaged Mega and RAMPS, build files published</a:t>
            </a:r>
            <a:endParaRPr lang="en-US" sz="1200" dirty="0"/>
          </a:p>
        </p:txBody>
      </p:sp>
      <p:sp>
        <p:nvSpPr>
          <p:cNvPr id="11" name="Shape 9"/>
          <p:cNvSpPr/>
          <p:nvPr/>
        </p:nvSpPr>
        <p:spPr>
          <a:xfrm>
            <a:off x="3505124" y="2212848"/>
            <a:ext cx="475488" cy="475488"/>
          </a:xfrm>
          <a:prstGeom prst="roundRect">
            <a:avLst>
              <a:gd name="adj" fmla="val 19231"/>
            </a:avLst>
          </a:prstGeom>
          <a:solidFill>
            <a:srgbClr val="B5FCCD"/>
          </a:solidFill>
          <a:ln w="12700">
            <a:solidFill>
              <a:srgbClr val="333333"/>
            </a:solidFill>
            <a:prstDash val="solid"/>
          </a:ln>
        </p:spPr>
      </p:sp>
      <p:sp>
        <p:nvSpPr>
          <p:cNvPr id="12" name="Text 10"/>
          <p:cNvSpPr/>
          <p:nvPr/>
        </p:nvSpPr>
        <p:spPr>
          <a:xfrm>
            <a:off x="3505124" y="2212848"/>
            <a:ext cx="475488" cy="475488"/>
          </a:xfrm>
          <a:prstGeom prst="rect">
            <a:avLst/>
          </a:prstGeom>
          <a:noFill/>
          <a:ln/>
        </p:spPr>
        <p:txBody>
          <a:bodyPr wrap="square" lIns="0" tIns="0" rIns="0" bIns="0" rtlCol="0" anchor="ctr"/>
          <a:lstStyle/>
          <a:p>
            <a:pPr algn="ctr" indent="0" marL="0">
              <a:buNone/>
            </a:pPr>
            <a:r>
              <a:rPr lang="en-US" sz="1500" b="1" dirty="0">
                <a:solidFill>
                  <a:srgbClr val="0D3A63"/>
                </a:solidFill>
                <a:latin typeface="Poppins" pitchFamily="34" charset="0"/>
                <a:ea typeface="Poppins" pitchFamily="34" charset="-122"/>
                <a:cs typeface="Poppins" pitchFamily="34" charset="-120"/>
              </a:rPr>
              <a:t>2</a:t>
            </a:r>
            <a:endParaRPr lang="en-US" sz="1500" dirty="0"/>
          </a:p>
        </p:txBody>
      </p:sp>
      <p:sp>
        <p:nvSpPr>
          <p:cNvPr id="13" name="Text 11"/>
          <p:cNvSpPr/>
          <p:nvPr/>
        </p:nvSpPr>
        <p:spPr>
          <a:xfrm>
            <a:off x="3505124" y="2889504"/>
            <a:ext cx="2453564" cy="402336"/>
          </a:xfrm>
          <a:prstGeom prst="rect">
            <a:avLst/>
          </a:prstGeom>
          <a:noFill/>
          <a:ln/>
        </p:spPr>
        <p:txBody>
          <a:bodyPr wrap="square" lIns="0" tIns="0" rIns="0" bIns="0" rtlCol="0" anchor="t"/>
          <a:lstStyle/>
          <a:p>
            <a:pPr indent="0" marL="0">
              <a:buNone/>
            </a:pPr>
            <a:r>
              <a:rPr lang="en-US" sz="1500" b="1" dirty="0">
                <a:solidFill>
                  <a:srgbClr val="0F2A3F"/>
                </a:solidFill>
                <a:latin typeface="Poppins" pitchFamily="34" charset="0"/>
                <a:ea typeface="Poppins" pitchFamily="34" charset="-122"/>
                <a:cs typeface="Poppins" pitchFamily="34" charset="-120"/>
              </a:rPr>
              <a:t>V2</a:t>
            </a:r>
            <a:endParaRPr lang="en-US" sz="1500" dirty="0"/>
          </a:p>
        </p:txBody>
      </p:sp>
      <p:sp>
        <p:nvSpPr>
          <p:cNvPr id="14" name="Text 12"/>
          <p:cNvSpPr/>
          <p:nvPr/>
        </p:nvSpPr>
        <p:spPr>
          <a:xfrm>
            <a:off x="3505124" y="3310128"/>
            <a:ext cx="2453564" cy="1371600"/>
          </a:xfrm>
          <a:prstGeom prst="rect">
            <a:avLst/>
          </a:prstGeom>
          <a:noFill/>
          <a:ln/>
        </p:spPr>
        <p:txBody>
          <a:bodyPr wrap="square" lIns="0" tIns="0" rIns="0" bIns="0" rtlCol="0" anchor="t"/>
          <a:lstStyle/>
          <a:p>
            <a:pPr indent="0" marL="0">
              <a:buNone/>
            </a:pPr>
            <a:r>
              <a:rPr lang="en-US" sz="1200" dirty="0">
                <a:solidFill>
                  <a:srgbClr val="6B8299"/>
                </a:solidFill>
                <a:latin typeface="Poppins" pitchFamily="34" charset="0"/>
                <a:ea typeface="Poppins" pitchFamily="34" charset="-122"/>
                <a:cs typeface="Poppins" pitchFamily="34" charset="-120"/>
              </a:rPr>
              <a:t>Untethered on a Xiao ESP32-C3, controller moves into the hand</a:t>
            </a:r>
            <a:endParaRPr lang="en-US" sz="1200" dirty="0"/>
          </a:p>
        </p:txBody>
      </p:sp>
      <p:sp>
        <p:nvSpPr>
          <p:cNvPr id="15" name="Shape 13"/>
          <p:cNvSpPr/>
          <p:nvPr/>
        </p:nvSpPr>
        <p:spPr>
          <a:xfrm>
            <a:off x="6233008" y="2212848"/>
            <a:ext cx="475488" cy="475488"/>
          </a:xfrm>
          <a:prstGeom prst="roundRect">
            <a:avLst>
              <a:gd name="adj" fmla="val 19231"/>
            </a:avLst>
          </a:prstGeom>
          <a:solidFill>
            <a:srgbClr val="B5FCCD"/>
          </a:solidFill>
          <a:ln w="12700">
            <a:solidFill>
              <a:srgbClr val="333333"/>
            </a:solidFill>
            <a:prstDash val="solid"/>
          </a:ln>
        </p:spPr>
      </p:sp>
      <p:sp>
        <p:nvSpPr>
          <p:cNvPr id="16" name="Text 14"/>
          <p:cNvSpPr/>
          <p:nvPr/>
        </p:nvSpPr>
        <p:spPr>
          <a:xfrm>
            <a:off x="6233008" y="2212848"/>
            <a:ext cx="475488" cy="475488"/>
          </a:xfrm>
          <a:prstGeom prst="rect">
            <a:avLst/>
          </a:prstGeom>
          <a:noFill/>
          <a:ln/>
        </p:spPr>
        <p:txBody>
          <a:bodyPr wrap="square" lIns="0" tIns="0" rIns="0" bIns="0" rtlCol="0" anchor="ctr"/>
          <a:lstStyle/>
          <a:p>
            <a:pPr algn="ctr" indent="0" marL="0">
              <a:buNone/>
            </a:pPr>
            <a:r>
              <a:rPr lang="en-US" sz="1500" b="1" dirty="0">
                <a:solidFill>
                  <a:srgbClr val="0D3A63"/>
                </a:solidFill>
                <a:latin typeface="Poppins" pitchFamily="34" charset="0"/>
                <a:ea typeface="Poppins" pitchFamily="34" charset="-122"/>
                <a:cs typeface="Poppins" pitchFamily="34" charset="-120"/>
              </a:rPr>
              <a:t>3</a:t>
            </a:r>
            <a:endParaRPr lang="en-US" sz="1500" dirty="0"/>
          </a:p>
        </p:txBody>
      </p:sp>
      <p:sp>
        <p:nvSpPr>
          <p:cNvPr id="17" name="Text 15"/>
          <p:cNvSpPr/>
          <p:nvPr/>
        </p:nvSpPr>
        <p:spPr>
          <a:xfrm>
            <a:off x="6233008" y="2889504"/>
            <a:ext cx="2453564" cy="402336"/>
          </a:xfrm>
          <a:prstGeom prst="rect">
            <a:avLst/>
          </a:prstGeom>
          <a:noFill/>
          <a:ln/>
        </p:spPr>
        <p:txBody>
          <a:bodyPr wrap="square" lIns="0" tIns="0" rIns="0" bIns="0" rtlCol="0" anchor="t"/>
          <a:lstStyle/>
          <a:p>
            <a:pPr indent="0" marL="0">
              <a:buNone/>
            </a:pPr>
            <a:r>
              <a:rPr lang="en-US" sz="1500" b="1" dirty="0">
                <a:solidFill>
                  <a:srgbClr val="0F2A3F"/>
                </a:solidFill>
                <a:latin typeface="Poppins" pitchFamily="34" charset="0"/>
                <a:ea typeface="Poppins" pitchFamily="34" charset="-122"/>
                <a:cs typeface="Poppins" pitchFamily="34" charset="-120"/>
              </a:rPr>
              <a:t>Feedstock</a:t>
            </a:r>
            <a:endParaRPr lang="en-US" sz="1500" dirty="0"/>
          </a:p>
        </p:txBody>
      </p:sp>
      <p:sp>
        <p:nvSpPr>
          <p:cNvPr id="18" name="Text 16"/>
          <p:cNvSpPr/>
          <p:nvPr/>
        </p:nvSpPr>
        <p:spPr>
          <a:xfrm>
            <a:off x="6233008" y="3310128"/>
            <a:ext cx="2453564" cy="1371600"/>
          </a:xfrm>
          <a:prstGeom prst="rect">
            <a:avLst/>
          </a:prstGeom>
          <a:noFill/>
          <a:ln/>
        </p:spPr>
        <p:txBody>
          <a:bodyPr wrap="square" lIns="0" tIns="0" rIns="0" bIns="0" rtlCol="0" anchor="t"/>
          <a:lstStyle/>
          <a:p>
            <a:pPr indent="0" marL="0">
              <a:buNone/>
            </a:pPr>
            <a:r>
              <a:rPr lang="en-US" sz="1200" dirty="0">
                <a:solidFill>
                  <a:srgbClr val="6B8299"/>
                </a:solidFill>
                <a:latin typeface="Poppins" pitchFamily="34" charset="0"/>
                <a:ea typeface="Poppins" pitchFamily="34" charset="-122"/>
                <a:cs typeface="Poppins" pitchFamily="34" charset="-120"/>
              </a:rPr>
              <a:t>Bottle to filament brought in-house so the loop closes under one roof</a:t>
            </a:r>
            <a:endParaRPr lang="en-US" sz="1200" dirty="0"/>
          </a:p>
        </p:txBody>
      </p:sp>
      <p:sp>
        <p:nvSpPr>
          <p:cNvPr id="19" name="Shape 17"/>
          <p:cNvSpPr/>
          <p:nvPr/>
        </p:nvSpPr>
        <p:spPr>
          <a:xfrm>
            <a:off x="8960891" y="2212848"/>
            <a:ext cx="475488" cy="475488"/>
          </a:xfrm>
          <a:prstGeom prst="roundRect">
            <a:avLst>
              <a:gd name="adj" fmla="val 19231"/>
            </a:avLst>
          </a:prstGeom>
          <a:solidFill>
            <a:srgbClr val="B5FCCD"/>
          </a:solidFill>
          <a:ln w="12700">
            <a:solidFill>
              <a:srgbClr val="333333"/>
            </a:solidFill>
            <a:prstDash val="solid"/>
          </a:ln>
        </p:spPr>
      </p:sp>
      <p:sp>
        <p:nvSpPr>
          <p:cNvPr id="20" name="Text 18"/>
          <p:cNvSpPr/>
          <p:nvPr/>
        </p:nvSpPr>
        <p:spPr>
          <a:xfrm>
            <a:off x="8960891" y="2212848"/>
            <a:ext cx="475488" cy="475488"/>
          </a:xfrm>
          <a:prstGeom prst="rect">
            <a:avLst/>
          </a:prstGeom>
          <a:noFill/>
          <a:ln/>
        </p:spPr>
        <p:txBody>
          <a:bodyPr wrap="square" lIns="0" tIns="0" rIns="0" bIns="0" rtlCol="0" anchor="ctr"/>
          <a:lstStyle/>
          <a:p>
            <a:pPr algn="ctr" indent="0" marL="0">
              <a:buNone/>
            </a:pPr>
            <a:r>
              <a:rPr lang="en-US" sz="1500" b="1" dirty="0">
                <a:solidFill>
                  <a:srgbClr val="0D3A63"/>
                </a:solidFill>
                <a:latin typeface="Poppins" pitchFamily="34" charset="0"/>
                <a:ea typeface="Poppins" pitchFamily="34" charset="-122"/>
                <a:cs typeface="Poppins" pitchFamily="34" charset="-120"/>
              </a:rPr>
              <a:t>4</a:t>
            </a:r>
            <a:endParaRPr lang="en-US" sz="1500" dirty="0"/>
          </a:p>
        </p:txBody>
      </p:sp>
      <p:sp>
        <p:nvSpPr>
          <p:cNvPr id="21" name="Text 19"/>
          <p:cNvSpPr/>
          <p:nvPr/>
        </p:nvSpPr>
        <p:spPr>
          <a:xfrm>
            <a:off x="8960891" y="2889504"/>
            <a:ext cx="2453564" cy="402336"/>
          </a:xfrm>
          <a:prstGeom prst="rect">
            <a:avLst/>
          </a:prstGeom>
          <a:noFill/>
          <a:ln/>
        </p:spPr>
        <p:txBody>
          <a:bodyPr wrap="square" lIns="0" tIns="0" rIns="0" bIns="0" rtlCol="0" anchor="t"/>
          <a:lstStyle/>
          <a:p>
            <a:pPr indent="0" marL="0">
              <a:buNone/>
            </a:pPr>
            <a:r>
              <a:rPr lang="en-US" sz="1500" b="1" dirty="0">
                <a:solidFill>
                  <a:srgbClr val="0F2A3F"/>
                </a:solidFill>
                <a:latin typeface="Poppins" pitchFamily="34" charset="0"/>
                <a:ea typeface="Poppins" pitchFamily="34" charset="-122"/>
                <a:cs typeface="Poppins" pitchFamily="34" charset="-120"/>
              </a:rPr>
              <a:t>Reliability</a:t>
            </a:r>
            <a:endParaRPr lang="en-US" sz="1500" dirty="0"/>
          </a:p>
        </p:txBody>
      </p:sp>
      <p:sp>
        <p:nvSpPr>
          <p:cNvPr id="22" name="Text 20"/>
          <p:cNvSpPr/>
          <p:nvPr/>
        </p:nvSpPr>
        <p:spPr>
          <a:xfrm>
            <a:off x="8960891" y="3310128"/>
            <a:ext cx="2453564" cy="1371600"/>
          </a:xfrm>
          <a:prstGeom prst="rect">
            <a:avLst/>
          </a:prstGeom>
          <a:noFill/>
          <a:ln/>
        </p:spPr>
        <p:txBody>
          <a:bodyPr wrap="square" lIns="0" tIns="0" rIns="0" bIns="0" rtlCol="0" anchor="t"/>
          <a:lstStyle/>
          <a:p>
            <a:pPr indent="0" marL="0">
              <a:buNone/>
            </a:pPr>
            <a:r>
              <a:rPr lang="en-US" sz="1200" dirty="0">
                <a:solidFill>
                  <a:srgbClr val="6B8299"/>
                </a:solidFill>
                <a:latin typeface="Poppins" pitchFamily="34" charset="0"/>
                <a:ea typeface="Poppins" pitchFamily="34" charset="-122"/>
                <a:cs typeface="Poppins" pitchFamily="34" charset="-120"/>
              </a:rPr>
              <a:t>Filament diameter sensor with live flow compensation</a:t>
            </a:r>
            <a:endParaRPr lang="en-US" sz="1200" dirty="0"/>
          </a:p>
        </p:txBody>
      </p:sp>
      <p:sp>
        <p:nvSpPr>
          <p:cNvPr id="24" name="Text 21"/>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6B8299"/>
                </a:solidFill>
                <a:latin typeface="Poppins" pitchFamily="34" charset="0"/>
                <a:ea typeface="Poppins" pitchFamily="34" charset="-122"/>
                <a:cs typeface="Poppins"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root/.claude/skills/synced/presentation/assets/bg/closin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77240" y="617220"/>
            <a:ext cx="118872" cy="118872"/>
          </a:xfrm>
          <a:prstGeom prst="roundRect">
            <a:avLst>
              <a:gd name="adj" fmla="val 28000"/>
            </a:avLst>
          </a:prstGeom>
          <a:solidFill>
            <a:srgbClr val="B5FCCD"/>
          </a:solidFill>
          <a:ln w="12700">
            <a:solidFill>
              <a:srgbClr val="B5FCCD"/>
            </a:solidFill>
            <a:prstDash val="solid"/>
          </a:ln>
        </p:spPr>
      </p:sp>
      <p:sp>
        <p:nvSpPr>
          <p:cNvPr id="4" name="Text 1"/>
          <p:cNvSpPr/>
          <p:nvPr/>
        </p:nvSpPr>
        <p:spPr>
          <a:xfrm>
            <a:off x="996696" y="566928"/>
            <a:ext cx="10417759" cy="237744"/>
          </a:xfrm>
          <a:prstGeom prst="rect">
            <a:avLst/>
          </a:prstGeom>
          <a:noFill/>
          <a:ln/>
        </p:spPr>
        <p:txBody>
          <a:bodyPr wrap="square" lIns="0" tIns="0" rIns="0" bIns="0" rtlCol="0" anchor="ctr"/>
          <a:lstStyle/>
          <a:p>
            <a:pPr indent="0" marL="0">
              <a:buNone/>
            </a:pPr>
            <a:r>
              <a:rPr lang="en-US" sz="1100" b="1" spc="220" kern="0" dirty="0">
                <a:solidFill>
                  <a:srgbClr val="B5FCCD"/>
                </a:solidFill>
                <a:latin typeface="Poppins" pitchFamily="34" charset="0"/>
                <a:ea typeface="Poppins" pitchFamily="34" charset="-122"/>
                <a:cs typeface="Poppins" pitchFamily="34" charset="-120"/>
              </a:rPr>
              <a:t>YOUR TURN</a:t>
            </a:r>
            <a:endParaRPr lang="en-US" sz="1100" dirty="0"/>
          </a:p>
        </p:txBody>
      </p:sp>
      <p:sp>
        <p:nvSpPr>
          <p:cNvPr id="5" name="Text 2"/>
          <p:cNvSpPr/>
          <p:nvPr/>
        </p:nvSpPr>
        <p:spPr>
          <a:xfrm>
            <a:off x="777240" y="1645920"/>
            <a:ext cx="8084284" cy="1737360"/>
          </a:xfrm>
          <a:prstGeom prst="rect">
            <a:avLst/>
          </a:prstGeom>
          <a:noFill/>
          <a:ln/>
        </p:spPr>
        <p:txBody>
          <a:bodyPr wrap="square" lIns="0" tIns="0" rIns="0" bIns="0" rtlCol="0" anchor="t"/>
          <a:lstStyle/>
          <a:p>
            <a:pPr indent="0" marL="0">
              <a:lnSpc>
                <a:spcPct val="106000"/>
              </a:lnSpc>
              <a:buNone/>
            </a:pPr>
            <a:r>
              <a:rPr lang="en-US" sz="3600" b="1" dirty="0">
                <a:solidFill>
                  <a:srgbClr val="FFFFFF"/>
                </a:solidFill>
                <a:latin typeface="Poppins" pitchFamily="34" charset="0"/>
                <a:ea typeface="Poppins" pitchFamily="34" charset="-122"/>
                <a:cs typeface="Poppins" pitchFamily="34" charset="-120"/>
              </a:rPr>
              <a:t>Take the files and build one.</a:t>
            </a:r>
            <a:endParaRPr lang="en-US" sz="3600" dirty="0"/>
          </a:p>
        </p:txBody>
      </p:sp>
      <p:sp>
        <p:nvSpPr>
          <p:cNvPr id="6" name="Text 3"/>
          <p:cNvSpPr/>
          <p:nvPr/>
        </p:nvSpPr>
        <p:spPr>
          <a:xfrm>
            <a:off x="777240" y="3456432"/>
            <a:ext cx="6382329" cy="914400"/>
          </a:xfrm>
          <a:prstGeom prst="rect">
            <a:avLst/>
          </a:prstGeom>
          <a:noFill/>
          <a:ln/>
        </p:spPr>
        <p:txBody>
          <a:bodyPr wrap="square" lIns="0" tIns="0" rIns="0" bIns="0" rtlCol="0" anchor="ctr"/>
          <a:lstStyle/>
          <a:p>
            <a:pPr indent="0" marL="0">
              <a:buNone/>
            </a:pPr>
            <a:r>
              <a:rPr lang="en-US" sz="1600" dirty="0">
                <a:solidFill>
                  <a:srgbClr val="C9E2F5"/>
                </a:solidFill>
                <a:latin typeface="Poppins" pitchFamily="34" charset="0"/>
                <a:ea typeface="Poppins" pitchFamily="34" charset="-122"/>
                <a:cs typeface="Poppins" pitchFamily="34" charset="-120"/>
              </a:rPr>
              <a:t>Hardware under CERN-OHL-S v2, firmware under MIT. STLs, wiring, pin map and the full build guide are open. Tell us what breaks.</a:t>
            </a:r>
            <a:endParaRPr lang="en-US" sz="1600" dirty="0"/>
          </a:p>
        </p:txBody>
      </p:sp>
      <p:sp>
        <p:nvSpPr>
          <p:cNvPr id="7" name="Shape 4"/>
          <p:cNvSpPr/>
          <p:nvPr/>
        </p:nvSpPr>
        <p:spPr>
          <a:xfrm>
            <a:off x="777240" y="4864608"/>
            <a:ext cx="960120" cy="54864"/>
          </a:xfrm>
          <a:prstGeom prst="rect">
            <a:avLst/>
          </a:prstGeom>
          <a:solidFill>
            <a:srgbClr val="B5FCCD"/>
          </a:solidFill>
          <a:ln w="12700">
            <a:solidFill>
              <a:srgbClr val="333333"/>
            </a:solidFill>
            <a:prstDash val="solid"/>
          </a:ln>
        </p:spPr>
      </p:sp>
      <p:sp>
        <p:nvSpPr>
          <p:cNvPr id="8" name="Text 5"/>
          <p:cNvSpPr/>
          <p:nvPr/>
        </p:nvSpPr>
        <p:spPr>
          <a:xfrm>
            <a:off x="777240" y="5084064"/>
            <a:ext cx="10637215" cy="329184"/>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www.plastibytes.com   ·   info@plastibytes.com</a:t>
            </a:r>
            <a:endParaRPr lang="en-US" sz="1400" dirty="0"/>
          </a:p>
        </p:txBody>
      </p:sp>
      <p:sp>
        <p:nvSpPr>
          <p:cNvPr id="9" name="Text 6"/>
          <p:cNvSpPr/>
          <p:nvPr/>
        </p:nvSpPr>
        <p:spPr>
          <a:xfrm>
            <a:off x="777240" y="5468112"/>
            <a:ext cx="7020562" cy="548640"/>
          </a:xfrm>
          <a:prstGeom prst="rect">
            <a:avLst/>
          </a:prstGeom>
          <a:noFill/>
          <a:ln/>
        </p:spPr>
        <p:txBody>
          <a:bodyPr wrap="square" lIns="0" tIns="0" rIns="0" bIns="0" rtlCol="0" anchor="ctr"/>
          <a:lstStyle/>
          <a:p>
            <a:pPr indent="0" marL="0">
              <a:buNone/>
            </a:pPr>
            <a:r>
              <a:rPr lang="en-US" sz="1150" i="1" dirty="0">
                <a:solidFill>
                  <a:srgbClr val="C9E2F5"/>
                </a:solidFill>
                <a:latin typeface="Poppins" pitchFamily="34" charset="0"/>
                <a:ea typeface="Poppins" pitchFamily="34" charset="-122"/>
                <a:cs typeface="Poppins" pitchFamily="34" charset="-120"/>
              </a:rPr>
              <a:t>Bridging Africa's innovation gap while tackling plastic pollution, one recycled bottle at a time.</a:t>
            </a:r>
            <a:endParaRPr lang="en-US" sz="1150" dirty="0"/>
          </a:p>
        </p:txBody>
      </p:sp>
      <p:pic>
        <p:nvPicPr>
          <p:cNvPr id="10" name="Image 1" descr="/root/.claude/skills/synced/presentation/assets/logos/brandmark-white.png">    </p:cNvPr>
          <p:cNvPicPr>
            <a:picLocks noChangeAspect="1"/>
          </p:cNvPicPr>
          <p:nvPr/>
        </p:nvPicPr>
        <p:blipFill>
          <a:blip r:embed="rId2"/>
          <a:stretch>
            <a:fillRect/>
          </a:stretch>
        </p:blipFill>
        <p:spPr>
          <a:xfrm>
            <a:off x="9322308" y="5138928"/>
            <a:ext cx="402336" cy="402336"/>
          </a:xfrm>
          <a:prstGeom prst="rect">
            <a:avLst/>
          </a:prstGeom>
        </p:spPr>
      </p:pic>
      <p:sp>
        <p:nvSpPr>
          <p:cNvPr id="11" name="Text 7"/>
          <p:cNvSpPr/>
          <p:nvPr/>
        </p:nvSpPr>
        <p:spPr>
          <a:xfrm>
            <a:off x="9837298" y="5138928"/>
            <a:ext cx="1689811" cy="402336"/>
          </a:xfrm>
          <a:prstGeom prst="rect">
            <a:avLst/>
          </a:prstGeom>
          <a:noFill/>
          <a:ln/>
        </p:spPr>
        <p:txBody>
          <a:bodyPr wrap="square" lIns="0" tIns="0" rIns="0" bIns="0" rtlCol="0" anchor="ctr"/>
          <a:lstStyle/>
          <a:p>
            <a:pPr indent="0" marL="0">
              <a:buNone/>
            </a:pPr>
            <a:r>
              <a:rPr lang="en-US" sz="2000" b="1" dirty="0">
                <a:solidFill>
                  <a:srgbClr val="FFFFFF"/>
                </a:solidFill>
                <a:latin typeface="Poppins" pitchFamily="34" charset="0"/>
                <a:ea typeface="Poppins" pitchFamily="34" charset="-122"/>
                <a:cs typeface="Poppins" pitchFamily="34" charset="-120"/>
              </a:rPr>
              <a:t>Plasti</a:t>
            </a:r>
            <a:pPr indent="0" marL="0">
              <a:buNone/>
            </a:pPr>
            <a:r>
              <a:rPr lang="en-US" sz="2000" dirty="0">
                <a:solidFill>
                  <a:srgbClr val="FFFFFF"/>
                </a:solidFill>
                <a:latin typeface="Poppins" pitchFamily="34" charset="0"/>
                <a:ea typeface="Poppins" pitchFamily="34" charset="-122"/>
                <a:cs typeface="Poppins" pitchFamily="34" charset="-120"/>
              </a:rPr>
              <a:t>Bytes</a:t>
            </a:r>
            <a:endParaRPr lang="en-US" sz="2000" dirty="0"/>
          </a:p>
        </p:txBody>
      </p:sp>
      <p:sp>
        <p:nvSpPr>
          <p:cNvPr id="13" name="Text 8"/>
          <p:cNvSpPr/>
          <p:nvPr/>
        </p:nvSpPr>
        <p:spPr>
          <a:xfrm>
            <a:off x="10865815" y="6327648"/>
            <a:ext cx="548640" cy="274320"/>
          </a:xfrm>
          <a:prstGeom prst="rect">
            <a:avLst/>
          </a:prstGeom>
          <a:noFill/>
          <a:ln/>
        </p:spPr>
        <p:txBody>
          <a:bodyPr wrap="square" lIns="0" tIns="0" rIns="0" bIns="0" rtlCol="0" anchor="ctr"/>
          <a:lstStyle/>
          <a:p>
            <a:pPr algn="r" indent="0" marL="0">
              <a:buNone/>
            </a:pPr>
            <a:r>
              <a:rPr lang="en-US" sz="1000" dirty="0">
                <a:solidFill>
                  <a:srgbClr val="C9E2F5"/>
                </a:solidFill>
                <a:latin typeface="Poppins" pitchFamily="34" charset="0"/>
                <a:ea typeface="Poppins" pitchFamily="34" charset="-122"/>
                <a:cs typeface="Poppins"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PlastiBytes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FlowForge</dc:title>
  <dc:subject>An open-source 3D printing pen built entirely from waste</dc:subject>
  <dc:creator>PlastiBytes</dc:creator>
  <cp:lastModifiedBy>PlastiBytes</cp:lastModifiedBy>
  <cp:revision>1</cp:revision>
  <dcterms:created xsi:type="dcterms:W3CDTF">2026-08-15T18:54:50Z</dcterms:created>
  <dcterms:modified xsi:type="dcterms:W3CDTF">2026-08-15T18:54:50Z</dcterms:modified>
</cp:coreProperties>
</file>